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316C"/>
    <a:srgbClr val="DB5663"/>
    <a:srgbClr val="68236E"/>
    <a:srgbClr val="FFBF55"/>
    <a:srgbClr val="F98757"/>
    <a:srgbClr val="EBEBFF"/>
    <a:srgbClr val="C3F3FA"/>
    <a:srgbClr val="D9FFD9"/>
    <a:srgbClr val="FAF6BA"/>
    <a:srgbClr val="FFD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3"/>
    <p:restoredTop sz="94686"/>
  </p:normalViewPr>
  <p:slideViewPr>
    <p:cSldViewPr snapToGrid="0">
      <p:cViewPr>
        <p:scale>
          <a:sx n="25" d="100"/>
          <a:sy n="25" d="100"/>
        </p:scale>
        <p:origin x="18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3064B-6275-CD44-85B1-2881A5599948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40FA3-98A1-0246-8EB6-B2E4FB191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1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40FA3-98A1-0246-8EB6-B2E4FB191CE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25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11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81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17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42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02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0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59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07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27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24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25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D54DA-DE90-9C44-8DDF-6E111834D96C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4BF3A-F069-A245-AD3D-8730EC499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79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ounded Rectangle 630">
            <a:extLst>
              <a:ext uri="{FF2B5EF4-FFF2-40B4-BE49-F238E27FC236}">
                <a16:creationId xmlns:a16="http://schemas.microsoft.com/office/drawing/2014/main" id="{497A49FB-45D0-3329-EB0E-7AA86C2914A3}"/>
              </a:ext>
            </a:extLst>
          </p:cNvPr>
          <p:cNvSpPr/>
          <p:nvPr/>
        </p:nvSpPr>
        <p:spPr>
          <a:xfrm>
            <a:off x="25170063" y="10114898"/>
            <a:ext cx="4269268" cy="1234855"/>
          </a:xfrm>
          <a:prstGeom prst="roundRect">
            <a:avLst>
              <a:gd name="adj" fmla="val 647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4D7F0B34-4937-BCDF-3C6A-A351B6867EFD}"/>
              </a:ext>
            </a:extLst>
          </p:cNvPr>
          <p:cNvCxnSpPr>
            <a:cxnSpLocks/>
          </p:cNvCxnSpPr>
          <p:nvPr/>
        </p:nvCxnSpPr>
        <p:spPr>
          <a:xfrm>
            <a:off x="19709464" y="24835782"/>
            <a:ext cx="5993546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AE2C64-4A7F-AC83-BAE6-A6E23A6413AD}"/>
              </a:ext>
            </a:extLst>
          </p:cNvPr>
          <p:cNvSpPr/>
          <p:nvPr/>
        </p:nvSpPr>
        <p:spPr>
          <a:xfrm>
            <a:off x="-1" y="1134699"/>
            <a:ext cx="30275213" cy="229821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 err="1">
                <a:solidFill>
                  <a:srgbClr val="68236E"/>
                </a:solidFill>
                <a:latin typeface="TeXGyrePagella" pitchFamily="2" charset="77"/>
              </a:rPr>
              <a:t>MetaMatch</a:t>
            </a:r>
            <a:r>
              <a:rPr lang="en-GB" sz="6000" b="1" dirty="0">
                <a:solidFill>
                  <a:srgbClr val="68236E"/>
                </a:solidFill>
                <a:latin typeface="TeXGyrePagella" pitchFamily="2" charset="77"/>
              </a:rPr>
              <a:t>: Reconciling Metadata for Aggregating Music Difficulty Annotations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C6EAD1C-35E3-F85D-B748-2045717AA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51013" y="428892"/>
            <a:ext cx="3359269" cy="10077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E2889F-DB45-6424-3BC8-5DD3594E1E59}"/>
              </a:ext>
            </a:extLst>
          </p:cNvPr>
          <p:cNvSpPr txBox="1"/>
          <p:nvPr/>
        </p:nvSpPr>
        <p:spPr>
          <a:xfrm>
            <a:off x="-1" y="2941610"/>
            <a:ext cx="30275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i="1" dirty="0">
                <a:latin typeface="TeXGyrePagella" pitchFamily="2" charset="77"/>
              </a:rPr>
              <a:t>Megan E. Finch</a:t>
            </a:r>
            <a:r>
              <a:rPr lang="en-GB" sz="3600" i="1" baseline="30000" dirty="0">
                <a:latin typeface="TeXGyrePagella" pitchFamily="2" charset="77"/>
              </a:rPr>
              <a:t>1</a:t>
            </a:r>
            <a:r>
              <a:rPr lang="en-GB" sz="3600" i="1" dirty="0">
                <a:latin typeface="TeXGyrePagella" pitchFamily="2" charset="77"/>
              </a:rPr>
              <a:t>, Chris G. Willcocks</a:t>
            </a:r>
            <a:r>
              <a:rPr lang="en-GB" sz="3600" i="1" baseline="30000" dirty="0">
                <a:latin typeface="TeXGyrePagella" pitchFamily="2" charset="77"/>
              </a:rPr>
              <a:t>1</a:t>
            </a:r>
            <a:r>
              <a:rPr lang="en-GB" sz="3600" i="1" dirty="0">
                <a:latin typeface="TeXGyrePagella" pitchFamily="2" charset="77"/>
              </a:rPr>
              <a:t>, Mark R. H. Gotham</a:t>
            </a:r>
            <a:r>
              <a:rPr lang="en-GB" sz="3600" i="1" baseline="30000" dirty="0">
                <a:latin typeface="TeXGyrePagella" pitchFamily="2" charset="77"/>
              </a:rPr>
              <a:t>2</a:t>
            </a:r>
          </a:p>
          <a:p>
            <a:pPr algn="ctr"/>
            <a:r>
              <a:rPr lang="en-GB" sz="3600" i="1" baseline="30000" dirty="0">
                <a:latin typeface="TeXGyrePagella" pitchFamily="2" charset="77"/>
              </a:rPr>
              <a:t>1 </a:t>
            </a:r>
            <a:r>
              <a:rPr lang="en-GB" sz="3600" i="1" dirty="0">
                <a:latin typeface="TeXGyrePagella" pitchFamily="2" charset="77"/>
              </a:rPr>
              <a:t>Durham University, UK      </a:t>
            </a:r>
            <a:r>
              <a:rPr lang="en-GB" sz="3600" i="1" baseline="30000" dirty="0">
                <a:latin typeface="TeXGyrePagella" pitchFamily="2" charset="77"/>
              </a:rPr>
              <a:t>2 </a:t>
            </a:r>
            <a:r>
              <a:rPr lang="en-GB" sz="3600" i="1" dirty="0">
                <a:latin typeface="TeXGyrePagella" pitchFamily="2" charset="77"/>
              </a:rPr>
              <a:t>King’s College London, UK</a:t>
            </a:r>
            <a:endParaRPr lang="en-GB" sz="3600" i="1" baseline="30000" dirty="0">
              <a:latin typeface="TeXGyrePagella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6667A-8254-F21E-9086-63543F9CBA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590" t="-3571"/>
          <a:stretch/>
        </p:blipFill>
        <p:spPr>
          <a:xfrm>
            <a:off x="27385226" y="227586"/>
            <a:ext cx="2215042" cy="14103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AAC245-32A8-243B-E148-2C727C4052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1448" t="1965"/>
          <a:stretch/>
        </p:blipFill>
        <p:spPr>
          <a:xfrm>
            <a:off x="671598" y="227586"/>
            <a:ext cx="2702984" cy="129892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322F6A-C74E-3429-6391-53ACFC132B2D}"/>
              </a:ext>
            </a:extLst>
          </p:cNvPr>
          <p:cNvSpPr/>
          <p:nvPr/>
        </p:nvSpPr>
        <p:spPr>
          <a:xfrm flipV="1">
            <a:off x="674941" y="4320025"/>
            <a:ext cx="28925327" cy="252547"/>
          </a:xfrm>
          <a:prstGeom prst="roundRect">
            <a:avLst>
              <a:gd name="adj" fmla="val 44216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i="1" dirty="0">
              <a:latin typeface="TeXGyrePagella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21550E1-6B6C-6F4A-5B12-CB062EC905BD}"/>
              </a:ext>
            </a:extLst>
          </p:cNvPr>
          <p:cNvSpPr/>
          <p:nvPr/>
        </p:nvSpPr>
        <p:spPr>
          <a:xfrm>
            <a:off x="674940" y="4787345"/>
            <a:ext cx="12243392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Motivation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70E6F26-8991-E7E0-5144-3B753248C2FE}"/>
              </a:ext>
            </a:extLst>
          </p:cNvPr>
          <p:cNvSpPr/>
          <p:nvPr/>
        </p:nvSpPr>
        <p:spPr>
          <a:xfrm>
            <a:off x="611363" y="38430599"/>
            <a:ext cx="16226850" cy="91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Conclusion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D5E3A4-9EE1-AB92-E663-ED238411CF4C}"/>
              </a:ext>
            </a:extLst>
          </p:cNvPr>
          <p:cNvSpPr/>
          <p:nvPr/>
        </p:nvSpPr>
        <p:spPr>
          <a:xfrm>
            <a:off x="17256076" y="38468699"/>
            <a:ext cx="12012360" cy="91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E6592-C511-E360-5DF9-4FCF8947F189}"/>
              </a:ext>
            </a:extLst>
          </p:cNvPr>
          <p:cNvSpPr txBox="1"/>
          <p:nvPr/>
        </p:nvSpPr>
        <p:spPr>
          <a:xfrm>
            <a:off x="674942" y="5886074"/>
            <a:ext cx="122433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Recent work in automated performance difficulty recognition focuses predominantly on piano music, due to data availability.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Music exam board repertoire lists provide a rich source of difficulty labels for dozens of instruments; and the sheet music for many of the listed works is in the public domain.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To make use of this data, we must first link musical works across multiple corpora with inconsistent metadata.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189B4C-3B8A-4B47-23EE-73D77C96BAC9}"/>
              </a:ext>
            </a:extLst>
          </p:cNvPr>
          <p:cNvSpPr/>
          <p:nvPr/>
        </p:nvSpPr>
        <p:spPr>
          <a:xfrm>
            <a:off x="13210162" y="4783700"/>
            <a:ext cx="16390105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Application: Aggregating Music Difficulty Annotations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924F23C-3866-BDF3-425E-C5AF3CE54F32}"/>
              </a:ext>
            </a:extLst>
          </p:cNvPr>
          <p:cNvSpPr/>
          <p:nvPr/>
        </p:nvSpPr>
        <p:spPr>
          <a:xfrm>
            <a:off x="673970" y="11779357"/>
            <a:ext cx="8985600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Dataset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95303E57-898A-4382-6114-15CD2866B447}"/>
              </a:ext>
            </a:extLst>
          </p:cNvPr>
          <p:cNvSpPr/>
          <p:nvPr/>
        </p:nvSpPr>
        <p:spPr>
          <a:xfrm>
            <a:off x="627703" y="15871699"/>
            <a:ext cx="9031868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Previous work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7A818CB0-02DE-BEA5-F09C-80724538E3E2}"/>
              </a:ext>
            </a:extLst>
          </p:cNvPr>
          <p:cNvSpPr/>
          <p:nvPr/>
        </p:nvSpPr>
        <p:spPr>
          <a:xfrm>
            <a:off x="10004715" y="28513374"/>
            <a:ext cx="19470056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Results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3C5F5E3-9DD9-3F8D-5084-E64225AB6F95}"/>
              </a:ext>
            </a:extLst>
          </p:cNvPr>
          <p:cNvSpPr txBox="1"/>
          <p:nvPr/>
        </p:nvSpPr>
        <p:spPr>
          <a:xfrm>
            <a:off x="627702" y="12984209"/>
            <a:ext cx="8971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b="1" dirty="0">
                <a:latin typeface="TeXGyrePagella" pitchFamily="2" charset="77"/>
              </a:rPr>
              <a:t>58,104 repertoire list entries </a:t>
            </a:r>
            <a:r>
              <a:rPr lang="en-GB" sz="3600" dirty="0">
                <a:latin typeface="TeXGyrePagella" pitchFamily="2" charset="77"/>
              </a:rPr>
              <a:t>collated from exam boards, covering </a:t>
            </a:r>
            <a:r>
              <a:rPr lang="en-GB" sz="3600" b="1" dirty="0">
                <a:latin typeface="TeXGyrePagella" pitchFamily="2" charset="77"/>
              </a:rPr>
              <a:t>20+ instruments </a:t>
            </a:r>
            <a:r>
              <a:rPr lang="en-GB" sz="3600" dirty="0">
                <a:latin typeface="TeXGyrePagella" pitchFamily="2" charset="77"/>
              </a:rPr>
              <a:t>and </a:t>
            </a:r>
            <a:r>
              <a:rPr lang="en-GB" sz="3600" b="1" dirty="0">
                <a:latin typeface="TeXGyrePagella" pitchFamily="2" charset="77"/>
              </a:rPr>
              <a:t>13k+ composers</a:t>
            </a:r>
            <a:r>
              <a:rPr lang="en-GB" sz="3600" dirty="0">
                <a:latin typeface="TeXGyrePagella" pitchFamily="2" charset="77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Includes </a:t>
            </a:r>
            <a:r>
              <a:rPr lang="en-GB" sz="3600" b="1" dirty="0">
                <a:latin typeface="TeXGyrePagella" pitchFamily="2" charset="77"/>
              </a:rPr>
              <a:t>7,737 entries </a:t>
            </a:r>
            <a:r>
              <a:rPr lang="en-GB" sz="3600" dirty="0">
                <a:latin typeface="TeXGyrePagella" pitchFamily="2" charset="77"/>
              </a:rPr>
              <a:t>for piano.</a:t>
            </a:r>
          </a:p>
        </p:txBody>
      </p: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331790B5-7CEB-F378-51F8-50731201F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56329"/>
              </p:ext>
            </p:extLst>
          </p:nvPr>
        </p:nvGraphicFramePr>
        <p:xfrm>
          <a:off x="10378967" y="14399734"/>
          <a:ext cx="557654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124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4214422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TeXGyrePagella" pitchFamily="2" charset="77"/>
                        </a:rPr>
                        <a:t>ID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TeXGyrePagella" pitchFamily="2" charset="77"/>
                        </a:rPr>
                        <a:t>Label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Q1319135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Jean-Baptiste </a:t>
                      </a:r>
                      <a:r>
                        <a:rPr lang="en-GB" sz="2400" dirty="0" err="1">
                          <a:latin typeface="TeXGyrePagella" pitchFamily="2" charset="77"/>
                        </a:rPr>
                        <a:t>Loeillet</a:t>
                      </a:r>
                      <a:r>
                        <a:rPr lang="en-GB" sz="2400" dirty="0">
                          <a:latin typeface="TeXGyrePagella" pitchFamily="2" charset="77"/>
                        </a:rPr>
                        <a:t> of London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Q1347001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Jean Baptiste </a:t>
                      </a:r>
                      <a:r>
                        <a:rPr lang="en-GB" sz="2400" dirty="0" err="1">
                          <a:latin typeface="TeXGyrePagella" pitchFamily="2" charset="77"/>
                        </a:rPr>
                        <a:t>Loeillet</a:t>
                      </a:r>
                      <a:r>
                        <a:rPr lang="en-GB" sz="2400" dirty="0">
                          <a:latin typeface="TeXGyrePagella" pitchFamily="2" charset="77"/>
                        </a:rPr>
                        <a:t> of Ghent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74085"/>
                  </a:ext>
                </a:extLst>
              </a:tr>
            </a:tbl>
          </a:graphicData>
        </a:graphic>
      </p:graphicFrame>
      <p:sp>
        <p:nvSpPr>
          <p:cNvPr id="137" name="Round Same-side Corner of Rectangle 136">
            <a:extLst>
              <a:ext uri="{FF2B5EF4-FFF2-40B4-BE49-F238E27FC236}">
                <a16:creationId xmlns:a16="http://schemas.microsoft.com/office/drawing/2014/main" id="{4F5B635E-52C1-BA06-6833-084B338DAA67}"/>
              </a:ext>
            </a:extLst>
          </p:cNvPr>
          <p:cNvSpPr/>
          <p:nvPr/>
        </p:nvSpPr>
        <p:spPr>
          <a:xfrm>
            <a:off x="10378967" y="13989682"/>
            <a:ext cx="5576546" cy="398557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WikiData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aphicFrame>
        <p:nvGraphicFramePr>
          <p:cNvPr id="146" name="Table 145">
            <a:extLst>
              <a:ext uri="{FF2B5EF4-FFF2-40B4-BE49-F238E27FC236}">
                <a16:creationId xmlns:a16="http://schemas.microsoft.com/office/drawing/2014/main" id="{190EB797-5A31-3F12-613B-42BF756FD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59289"/>
              </p:ext>
            </p:extLst>
          </p:nvPr>
        </p:nvGraphicFramePr>
        <p:xfrm>
          <a:off x="23678324" y="14082185"/>
          <a:ext cx="5802391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50510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1251881">
                  <a:extLst>
                    <a:ext uri="{9D8B030D-6E8A-4147-A177-3AD203B41FA5}">
                      <a16:colId xmlns:a16="http://schemas.microsoft.com/office/drawing/2014/main" val="4013798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Suite in G minor, HWV 432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Chaconne in F major, HWV 485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674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Chaconne in G major, HWV 435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22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Chaconne in G major, HWV 442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605777"/>
                  </a:ext>
                </a:extLst>
              </a:tr>
            </a:tbl>
          </a:graphicData>
        </a:graphic>
      </p:graphicFrame>
      <p:sp>
        <p:nvSpPr>
          <p:cNvPr id="147" name="Round Same-side Corner of Rectangle 146">
            <a:extLst>
              <a:ext uri="{FF2B5EF4-FFF2-40B4-BE49-F238E27FC236}">
                <a16:creationId xmlns:a16="http://schemas.microsoft.com/office/drawing/2014/main" id="{5B70DA6A-B42F-AAC2-327E-D26B35CB8148}"/>
              </a:ext>
            </a:extLst>
          </p:cNvPr>
          <p:cNvSpPr/>
          <p:nvPr/>
        </p:nvSpPr>
        <p:spPr>
          <a:xfrm>
            <a:off x="23678324" y="13666706"/>
            <a:ext cx="4548435" cy="409517"/>
          </a:xfrm>
          <a:prstGeom prst="round2SameRect">
            <a:avLst/>
          </a:prstGeom>
          <a:solidFill>
            <a:srgbClr val="C3F3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IMSLP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C3C2A10-34E6-7AA8-43C7-8335360E8665}"/>
              </a:ext>
            </a:extLst>
          </p:cNvPr>
          <p:cNvCxnSpPr>
            <a:cxnSpLocks/>
          </p:cNvCxnSpPr>
          <p:nvPr/>
        </p:nvCxnSpPr>
        <p:spPr>
          <a:xfrm>
            <a:off x="22565623" y="14266188"/>
            <a:ext cx="1080000" cy="21111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F0F0C8C-F6B1-C4BA-26F8-A2BC6B24A679}"/>
              </a:ext>
            </a:extLst>
          </p:cNvPr>
          <p:cNvCxnSpPr>
            <a:cxnSpLocks/>
          </p:cNvCxnSpPr>
          <p:nvPr/>
        </p:nvCxnSpPr>
        <p:spPr>
          <a:xfrm>
            <a:off x="22565623" y="14266188"/>
            <a:ext cx="1080000" cy="60079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51BE37E-6A18-3D04-F053-A669EED91935}"/>
              </a:ext>
            </a:extLst>
          </p:cNvPr>
          <p:cNvCxnSpPr>
            <a:cxnSpLocks/>
          </p:cNvCxnSpPr>
          <p:nvPr/>
        </p:nvCxnSpPr>
        <p:spPr>
          <a:xfrm>
            <a:off x="22565623" y="14266188"/>
            <a:ext cx="1080000" cy="10159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EFA2E95-94D4-8D31-CA68-F35164057216}"/>
              </a:ext>
            </a:extLst>
          </p:cNvPr>
          <p:cNvCxnSpPr>
            <a:cxnSpLocks/>
          </p:cNvCxnSpPr>
          <p:nvPr/>
        </p:nvCxnSpPr>
        <p:spPr>
          <a:xfrm>
            <a:off x="22565623" y="14266188"/>
            <a:ext cx="1080000" cy="14325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78C5C86B-CF94-F1E0-49EB-270E87F4EACA}"/>
              </a:ext>
            </a:extLst>
          </p:cNvPr>
          <p:cNvSpPr txBox="1"/>
          <p:nvPr/>
        </p:nvSpPr>
        <p:spPr>
          <a:xfrm>
            <a:off x="16851185" y="16287060"/>
            <a:ext cx="124172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eXGyrePagella" pitchFamily="2" charset="77"/>
              </a:rPr>
              <a:t>Pieces can have different titles, including </a:t>
            </a:r>
            <a:r>
              <a:rPr lang="en-GB" sz="2800" b="1" dirty="0">
                <a:latin typeface="TeXGyrePagella" pitchFamily="2" charset="77"/>
              </a:rPr>
              <a:t>translations and levels of detail</a:t>
            </a:r>
            <a:r>
              <a:rPr lang="en-GB" sz="2800" dirty="0">
                <a:latin typeface="TeXGyrePagella" pitchFamily="2" charset="77"/>
              </a:rPr>
              <a:t>. For example, </a:t>
            </a:r>
            <a:r>
              <a:rPr lang="en-GB" sz="2800" i="1" dirty="0">
                <a:latin typeface="TeXGyrePagella" pitchFamily="2" charset="77"/>
              </a:rPr>
              <a:t>Chaconne</a:t>
            </a:r>
            <a:r>
              <a:rPr lang="en-GB" sz="2800" dirty="0">
                <a:latin typeface="TeXGyrePagella" pitchFamily="2" charset="77"/>
              </a:rPr>
              <a:t> here refers to movement </a:t>
            </a:r>
            <a:r>
              <a:rPr lang="en-GB" sz="2800" i="1" dirty="0">
                <a:solidFill>
                  <a:srgbClr val="000000"/>
                </a:solidFill>
                <a:effectLst/>
                <a:latin typeface="TeXGyrePagella" pitchFamily="2" charset="77"/>
              </a:rPr>
              <a:t>VI. Passacaglia </a:t>
            </a:r>
            <a:r>
              <a:rPr lang="en-GB" sz="2800" dirty="0">
                <a:solidFill>
                  <a:srgbClr val="000000"/>
                </a:solidFill>
                <a:effectLst/>
                <a:latin typeface="TeXGyrePagella" pitchFamily="2" charset="77"/>
              </a:rPr>
              <a:t>of HWV 432.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17D2DF9-6C8B-6FBB-D522-CB71EF4A7077}"/>
              </a:ext>
            </a:extLst>
          </p:cNvPr>
          <p:cNvSpPr txBox="1"/>
          <p:nvPr/>
        </p:nvSpPr>
        <p:spPr>
          <a:xfrm>
            <a:off x="10011961" y="16584006"/>
            <a:ext cx="63481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eXGyrePagella" pitchFamily="2" charset="77"/>
              </a:rPr>
              <a:t>Composer names can be under-specified or ambiguous.</a:t>
            </a:r>
            <a:endParaRPr lang="en-GB" sz="2800" dirty="0">
              <a:solidFill>
                <a:srgbClr val="000000"/>
              </a:solidFill>
              <a:effectLst/>
              <a:latin typeface="TeXGyrePagella" pitchFamily="2" charset="7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F7A7816-4424-5A79-0377-173D24930DBE}"/>
              </a:ext>
            </a:extLst>
          </p:cNvPr>
          <p:cNvSpPr txBox="1"/>
          <p:nvPr/>
        </p:nvSpPr>
        <p:spPr>
          <a:xfrm>
            <a:off x="673970" y="17056493"/>
            <a:ext cx="63545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The </a:t>
            </a:r>
            <a:r>
              <a:rPr lang="en-GB" sz="3600" b="1" dirty="0" err="1">
                <a:latin typeface="TeXGyrePagella" pitchFamily="2" charset="77"/>
              </a:rPr>
              <a:t>LinkedMusic</a:t>
            </a:r>
            <a:r>
              <a:rPr lang="en-GB" sz="3600" dirty="0">
                <a:latin typeface="TeXGyrePagella" pitchFamily="2" charset="77"/>
              </a:rPr>
              <a:t> project [1] uses </a:t>
            </a:r>
            <a:r>
              <a:rPr lang="en-GB" sz="3600" dirty="0" err="1">
                <a:latin typeface="TeXGyrePagella" pitchFamily="2" charset="77"/>
              </a:rPr>
              <a:t>OpenRefine’s</a:t>
            </a:r>
            <a:r>
              <a:rPr lang="en-GB" sz="3600" dirty="0">
                <a:latin typeface="TeXGyrePagella" pitchFamily="2" charset="77"/>
              </a:rPr>
              <a:t> reconciliation API to semi-automatically match as many values to </a:t>
            </a:r>
            <a:r>
              <a:rPr lang="en-GB" sz="3600" dirty="0" err="1">
                <a:latin typeface="TeXGyrePagella" pitchFamily="2" charset="77"/>
              </a:rPr>
              <a:t>WikiData</a:t>
            </a:r>
            <a:r>
              <a:rPr lang="en-GB" sz="3600" dirty="0">
                <a:latin typeface="TeXGyrePagella" pitchFamily="2" charset="77"/>
              </a:rPr>
              <a:t> entities as possible. 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688AA5-6987-922C-1EC9-F225DC878587}"/>
              </a:ext>
            </a:extLst>
          </p:cNvPr>
          <p:cNvGrpSpPr/>
          <p:nvPr/>
        </p:nvGrpSpPr>
        <p:grpSpPr>
          <a:xfrm>
            <a:off x="7319061" y="17514450"/>
            <a:ext cx="2280275" cy="2243901"/>
            <a:chOff x="8986131" y="19062223"/>
            <a:chExt cx="2213995" cy="2421173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3D0F155-DC36-4094-FCA7-335F659C4038}"/>
                </a:ext>
              </a:extLst>
            </p:cNvPr>
            <p:cNvGrpSpPr/>
            <p:nvPr/>
          </p:nvGrpSpPr>
          <p:grpSpPr>
            <a:xfrm>
              <a:off x="8986131" y="19062223"/>
              <a:ext cx="2126241" cy="2421173"/>
              <a:chOff x="3115302" y="1515999"/>
              <a:chExt cx="1878917" cy="2139543"/>
            </a:xfrm>
          </p:grpSpPr>
          <p:sp>
            <p:nvSpPr>
              <p:cNvPr id="175" name="Can 174">
                <a:extLst>
                  <a:ext uri="{FF2B5EF4-FFF2-40B4-BE49-F238E27FC236}">
                    <a16:creationId xmlns:a16="http://schemas.microsoft.com/office/drawing/2014/main" id="{AE4FF6BB-8DAB-8137-9E89-EC79FA298336}"/>
                  </a:ext>
                </a:extLst>
              </p:cNvPr>
              <p:cNvSpPr/>
              <p:nvPr/>
            </p:nvSpPr>
            <p:spPr>
              <a:xfrm>
                <a:off x="4454958" y="2246109"/>
                <a:ext cx="539261" cy="679939"/>
              </a:xfrm>
              <a:prstGeom prst="can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6" name="Can 175">
                <a:extLst>
                  <a:ext uri="{FF2B5EF4-FFF2-40B4-BE49-F238E27FC236}">
                    <a16:creationId xmlns:a16="http://schemas.microsoft.com/office/drawing/2014/main" id="{7899D057-6CB0-910D-23BF-1453F509D961}"/>
                  </a:ext>
                </a:extLst>
              </p:cNvPr>
              <p:cNvSpPr/>
              <p:nvPr/>
            </p:nvSpPr>
            <p:spPr>
              <a:xfrm>
                <a:off x="3115302" y="3101193"/>
                <a:ext cx="439655" cy="554349"/>
              </a:xfrm>
              <a:prstGeom prst="can">
                <a:avLst/>
              </a:prstGeom>
              <a:solidFill>
                <a:srgbClr val="C3F2F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7" name="Can 176">
                <a:extLst>
                  <a:ext uri="{FF2B5EF4-FFF2-40B4-BE49-F238E27FC236}">
                    <a16:creationId xmlns:a16="http://schemas.microsoft.com/office/drawing/2014/main" id="{5DF4B59E-2C81-065F-EB4D-6BA7E00BB5BC}"/>
                  </a:ext>
                </a:extLst>
              </p:cNvPr>
              <p:cNvSpPr/>
              <p:nvPr/>
            </p:nvSpPr>
            <p:spPr>
              <a:xfrm>
                <a:off x="3115303" y="2308596"/>
                <a:ext cx="439655" cy="554349"/>
              </a:xfrm>
              <a:prstGeom prst="can">
                <a:avLst/>
              </a:prstGeom>
              <a:solidFill>
                <a:srgbClr val="EBEBF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78" name="Can 177">
                <a:extLst>
                  <a:ext uri="{FF2B5EF4-FFF2-40B4-BE49-F238E27FC236}">
                    <a16:creationId xmlns:a16="http://schemas.microsoft.com/office/drawing/2014/main" id="{D8F429F3-C33A-18EB-3F8E-D503E5201293}"/>
                  </a:ext>
                </a:extLst>
              </p:cNvPr>
              <p:cNvSpPr/>
              <p:nvPr/>
            </p:nvSpPr>
            <p:spPr>
              <a:xfrm>
                <a:off x="3115303" y="1515999"/>
                <a:ext cx="439655" cy="554349"/>
              </a:xfrm>
              <a:prstGeom prst="can">
                <a:avLst/>
              </a:prstGeom>
              <a:solidFill>
                <a:srgbClr val="FFDBF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7148C1C-2B6B-9553-A9F7-841A14B8D6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0153" y="1793173"/>
                <a:ext cx="685810" cy="452936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39DBB06-D2B6-9434-96F7-9E780941D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953" y="2585771"/>
                <a:ext cx="762010" cy="0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AED91187-841B-56E4-BF17-5011A95610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61158" y="2962517"/>
                <a:ext cx="687600" cy="453600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6D2B8B0-F25C-D441-DE8E-B22C46A3260C}"/>
                </a:ext>
              </a:extLst>
            </p:cNvPr>
            <p:cNvSpPr txBox="1"/>
            <p:nvPr/>
          </p:nvSpPr>
          <p:spPr>
            <a:xfrm>
              <a:off x="10431967" y="20735401"/>
              <a:ext cx="76815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b="1" dirty="0">
                  <a:latin typeface="TeXGyrePagella" pitchFamily="2" charset="77"/>
                </a:rPr>
                <a:t>Wiki</a:t>
              </a:r>
            </a:p>
            <a:p>
              <a:pPr algn="ctr"/>
              <a:r>
                <a:rPr lang="en-GB" sz="2000" b="1" dirty="0">
                  <a:latin typeface="TeXGyrePagella" pitchFamily="2" charset="77"/>
                </a:rPr>
                <a:t>Data</a:t>
              </a: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3ABE3830-6500-ABF6-02E9-DBB42E87C917}"/>
              </a:ext>
            </a:extLst>
          </p:cNvPr>
          <p:cNvSpPr txBox="1"/>
          <p:nvPr/>
        </p:nvSpPr>
        <p:spPr>
          <a:xfrm>
            <a:off x="17256075" y="39627934"/>
            <a:ext cx="123441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I. </a:t>
            </a:r>
            <a:r>
              <a:rPr lang="en-GB" sz="2400" dirty="0" err="1">
                <a:solidFill>
                  <a:srgbClr val="000000"/>
                </a:solidFill>
                <a:effectLst/>
                <a:latin typeface="TeXGyrePagella" pitchFamily="2" charset="77"/>
              </a:rPr>
              <a:t>Fujinaga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, “Sustainable archiving of music databases through RDF and </a:t>
            </a:r>
            <a:r>
              <a:rPr lang="en-GB" sz="2400" dirty="0">
                <a:solidFill>
                  <a:srgbClr val="000000"/>
                </a:solidFill>
                <a:latin typeface="TeXGyrePagella" pitchFamily="2" charset="77"/>
              </a:rPr>
              <a:t>NLQ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2SPARQL,” in </a:t>
            </a:r>
            <a:r>
              <a:rPr lang="en-GB" sz="2400" i="1" dirty="0">
                <a:solidFill>
                  <a:srgbClr val="000000"/>
                </a:solidFill>
                <a:effectLst/>
                <a:latin typeface="TeXGyrePagella" pitchFamily="2" charset="77"/>
              </a:rPr>
              <a:t>Proceedings of the 12</a:t>
            </a:r>
            <a:r>
              <a:rPr lang="en-GB" sz="2400" i="1" baseline="30000" dirty="0">
                <a:solidFill>
                  <a:srgbClr val="000000"/>
                </a:solidFill>
                <a:effectLst/>
                <a:latin typeface="TeXGyrePagella" pitchFamily="2" charset="77"/>
              </a:rPr>
              <a:t>th</a:t>
            </a:r>
            <a:r>
              <a:rPr lang="en-GB" sz="2400" i="1" dirty="0">
                <a:solidFill>
                  <a:srgbClr val="000000"/>
                </a:solidFill>
                <a:effectLst/>
                <a:latin typeface="TeXGyrePagella" pitchFamily="2" charset="77"/>
              </a:rPr>
              <a:t> International Conference on Digital Libraries for Musicology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, 2025, pp. 100–104.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R. </a:t>
            </a:r>
            <a:r>
              <a:rPr lang="en-GB" sz="2400" dirty="0" err="1">
                <a:solidFill>
                  <a:srgbClr val="000000"/>
                </a:solidFill>
                <a:effectLst/>
                <a:latin typeface="TeXGyrePagella" pitchFamily="2" charset="77"/>
              </a:rPr>
              <a:t>Peeters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 and C. </a:t>
            </a:r>
            <a:r>
              <a:rPr lang="en-GB" sz="2400" dirty="0" err="1">
                <a:solidFill>
                  <a:srgbClr val="000000"/>
                </a:solidFill>
                <a:effectLst/>
                <a:latin typeface="TeXGyrePagella" pitchFamily="2" charset="77"/>
              </a:rPr>
              <a:t>Bizer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, “Using </a:t>
            </a:r>
            <a:r>
              <a:rPr lang="en-GB" sz="2400" dirty="0" err="1">
                <a:solidFill>
                  <a:srgbClr val="000000"/>
                </a:solidFill>
                <a:effectLst/>
                <a:latin typeface="TeXGyrePagella" pitchFamily="2" charset="77"/>
              </a:rPr>
              <a:t>ChatGPT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 for entity matching,” in </a:t>
            </a:r>
            <a:r>
              <a:rPr lang="en-GB" sz="2400" i="1" dirty="0">
                <a:solidFill>
                  <a:srgbClr val="000000"/>
                </a:solidFill>
                <a:effectLst/>
                <a:latin typeface="TeXGyrePagella" pitchFamily="2" charset="77"/>
              </a:rPr>
              <a:t>European Conference on Advances in Databases and Information Systems</a:t>
            </a:r>
            <a:r>
              <a:rPr lang="en-GB" sz="2400" dirty="0">
                <a:solidFill>
                  <a:srgbClr val="000000"/>
                </a:solidFill>
                <a:effectLst/>
                <a:latin typeface="TeXGyrePagella" pitchFamily="2" charset="77"/>
              </a:rPr>
              <a:t>. Springer, 2023, pp. 221–230.</a:t>
            </a:r>
          </a:p>
          <a:p>
            <a:pPr marL="457200" indent="-457200">
              <a:buAutoNum type="arabicPeriod"/>
            </a:pPr>
            <a:endParaRPr lang="en-GB" sz="2400" dirty="0">
              <a:solidFill>
                <a:srgbClr val="000000"/>
              </a:solidFill>
              <a:effectLst/>
              <a:latin typeface="TeXGyrePagella" pitchFamily="2" charset="77"/>
            </a:endParaRPr>
          </a:p>
          <a:p>
            <a:pPr marL="457200" indent="-457200">
              <a:buAutoNum type="arabicPeriod"/>
            </a:pPr>
            <a:endParaRPr lang="en-GB" sz="2400" dirty="0">
              <a:solidFill>
                <a:srgbClr val="000000"/>
              </a:solidFill>
              <a:effectLst/>
              <a:latin typeface="TeXGyrePagella" pitchFamily="2" charset="77"/>
            </a:endParaRPr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EA6671D8-8510-D17E-4321-2682C55BC9F4}"/>
              </a:ext>
            </a:extLst>
          </p:cNvPr>
          <p:cNvSpPr/>
          <p:nvPr/>
        </p:nvSpPr>
        <p:spPr>
          <a:xfrm>
            <a:off x="10004715" y="18127005"/>
            <a:ext cx="11337435" cy="4366722"/>
          </a:xfrm>
          <a:prstGeom prst="roundRect">
            <a:avLst>
              <a:gd name="adj" fmla="val 9908"/>
            </a:avLst>
          </a:prstGeom>
          <a:noFill/>
          <a:ln w="28575">
            <a:solidFill>
              <a:srgbClr val="68236E"/>
            </a:solidFill>
            <a:prstDash val="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60" name="Rounded Rectangle 259">
            <a:extLst>
              <a:ext uri="{FF2B5EF4-FFF2-40B4-BE49-F238E27FC236}">
                <a16:creationId xmlns:a16="http://schemas.microsoft.com/office/drawing/2014/main" id="{8DAFB2BF-982D-52DD-6365-E7A632FDC54D}"/>
              </a:ext>
            </a:extLst>
          </p:cNvPr>
          <p:cNvSpPr/>
          <p:nvPr/>
        </p:nvSpPr>
        <p:spPr>
          <a:xfrm>
            <a:off x="10782583" y="17688808"/>
            <a:ext cx="5172930" cy="824400"/>
          </a:xfrm>
          <a:prstGeom prst="roundRect">
            <a:avLst>
              <a:gd name="adj" fmla="val 229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i="1" dirty="0">
                <a:solidFill>
                  <a:srgbClr val="68236E"/>
                </a:solidFill>
                <a:latin typeface="TeXGyrePagella" pitchFamily="2" charset="77"/>
              </a:rPr>
              <a:t>Different granularities</a:t>
            </a:r>
          </a:p>
        </p:txBody>
      </p:sp>
      <p:graphicFrame>
        <p:nvGraphicFramePr>
          <p:cNvPr id="261" name="Table 260">
            <a:extLst>
              <a:ext uri="{FF2B5EF4-FFF2-40B4-BE49-F238E27FC236}">
                <a16:creationId xmlns:a16="http://schemas.microsoft.com/office/drawing/2014/main" id="{ED35AC25-7F4F-38C0-E611-A4568BF44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8914"/>
              </p:ext>
            </p:extLst>
          </p:nvPr>
        </p:nvGraphicFramePr>
        <p:xfrm>
          <a:off x="10419195" y="19004372"/>
          <a:ext cx="4528451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1652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2906799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TeXGyrePagella" pitchFamily="2" charset="77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TeXGyrePagella" pitchFamily="2" charset="77"/>
                        </a:rPr>
                        <a:t>In Yugoslav Mode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Composer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Béla </a:t>
                      </a:r>
                      <a:r>
                        <a:rPr lang="en-GB" sz="2400" dirty="0" err="1">
                          <a:latin typeface="TeXGyrePagella" pitchFamily="2" charset="77"/>
                        </a:rPr>
                        <a:t>Bartók</a:t>
                      </a:r>
                      <a:endParaRPr lang="en-GB" sz="2400" dirty="0">
                        <a:latin typeface="TeXGyrePagella" pitchFamily="2" charset="7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Book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i="1" dirty="0">
                          <a:latin typeface="TeXGyrePagella" pitchFamily="2" charset="77"/>
                        </a:rPr>
                        <a:t>MTB Piano Grade 1</a:t>
                      </a:r>
                      <a:endParaRPr lang="en-GB" sz="2400" dirty="0">
                        <a:latin typeface="TeXGyrePagella" pitchFamily="2" charset="7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Difficulty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Grade 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05777"/>
                  </a:ext>
                </a:extLst>
              </a:tr>
            </a:tbl>
          </a:graphicData>
        </a:graphic>
      </p:graphicFrame>
      <p:sp>
        <p:nvSpPr>
          <p:cNvPr id="262" name="Round Same-side Corner of Rectangle 261">
            <a:extLst>
              <a:ext uri="{FF2B5EF4-FFF2-40B4-BE49-F238E27FC236}">
                <a16:creationId xmlns:a16="http://schemas.microsoft.com/office/drawing/2014/main" id="{BD0E878E-0063-16C9-ED53-B20A3ABF26B3}"/>
              </a:ext>
            </a:extLst>
          </p:cNvPr>
          <p:cNvSpPr/>
          <p:nvPr/>
        </p:nvSpPr>
        <p:spPr>
          <a:xfrm>
            <a:off x="10419195" y="18594852"/>
            <a:ext cx="4528451" cy="409517"/>
          </a:xfrm>
          <a:prstGeom prst="round2SameRect">
            <a:avLst/>
          </a:prstGeom>
          <a:solidFill>
            <a:srgbClr val="EBE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Graded Pieces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aphicFrame>
        <p:nvGraphicFramePr>
          <p:cNvPr id="264" name="Table 263">
            <a:extLst>
              <a:ext uri="{FF2B5EF4-FFF2-40B4-BE49-F238E27FC236}">
                <a16:creationId xmlns:a16="http://schemas.microsoft.com/office/drawing/2014/main" id="{8D8A5E4B-A602-AEDD-9292-BFA08C8FE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886716"/>
              </p:ext>
            </p:extLst>
          </p:nvPr>
        </p:nvGraphicFramePr>
        <p:xfrm>
          <a:off x="16712291" y="18783703"/>
          <a:ext cx="43722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2250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Mikrokosmos</a:t>
                      </a:r>
                      <a:r>
                        <a:rPr lang="en-GB" sz="2400" dirty="0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, </a:t>
                      </a:r>
                      <a:r>
                        <a:rPr lang="en-GB" sz="2400" dirty="0" err="1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Sz</a:t>
                      </a:r>
                      <a:r>
                        <a:rPr lang="en-GB" sz="2400" dirty="0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. 107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</a:tbl>
          </a:graphicData>
        </a:graphic>
      </p:graphicFrame>
      <p:sp>
        <p:nvSpPr>
          <p:cNvPr id="265" name="Round Same-side Corner of Rectangle 264">
            <a:extLst>
              <a:ext uri="{FF2B5EF4-FFF2-40B4-BE49-F238E27FC236}">
                <a16:creationId xmlns:a16="http://schemas.microsoft.com/office/drawing/2014/main" id="{AAA3D04B-33D3-2ED6-DFD4-5BAF341A4A7D}"/>
              </a:ext>
            </a:extLst>
          </p:cNvPr>
          <p:cNvSpPr/>
          <p:nvPr/>
        </p:nvSpPr>
        <p:spPr>
          <a:xfrm>
            <a:off x="16705940" y="18367516"/>
            <a:ext cx="4378601" cy="409517"/>
          </a:xfrm>
          <a:prstGeom prst="round2SameRect">
            <a:avLst/>
          </a:prstGeom>
          <a:solidFill>
            <a:srgbClr val="C3F3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IMSLP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BD0D4CE8-A234-19BD-B3B3-2A69D27E1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51564"/>
              </p:ext>
            </p:extLst>
          </p:nvPr>
        </p:nvGraphicFramePr>
        <p:xfrm>
          <a:off x="16691273" y="19862131"/>
          <a:ext cx="4393267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3267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Mikrokosmos</a:t>
                      </a:r>
                      <a:r>
                        <a:rPr lang="en-GB" sz="2400" dirty="0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, </a:t>
                      </a:r>
                      <a:r>
                        <a:rPr lang="en-GB" sz="2400" dirty="0" err="1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Sz</a:t>
                      </a:r>
                      <a:r>
                        <a:rPr lang="en-GB" sz="2400" dirty="0">
                          <a:latin typeface="CMU Serif Roman" panose="02000603000000000000" pitchFamily="2" charset="0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. 107, BB 105: Volume II, No. 40: In Yugoslavian Mode (Allegretto)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</a:tbl>
          </a:graphicData>
        </a:graphic>
      </p:graphicFrame>
      <p:sp>
        <p:nvSpPr>
          <p:cNvPr id="267" name="Round Same-side Corner of Rectangle 266">
            <a:extLst>
              <a:ext uri="{FF2B5EF4-FFF2-40B4-BE49-F238E27FC236}">
                <a16:creationId xmlns:a16="http://schemas.microsoft.com/office/drawing/2014/main" id="{8114E026-1436-E2E3-F408-83B730C6F259}"/>
              </a:ext>
            </a:extLst>
          </p:cNvPr>
          <p:cNvSpPr/>
          <p:nvPr/>
        </p:nvSpPr>
        <p:spPr>
          <a:xfrm>
            <a:off x="16691273" y="19452611"/>
            <a:ext cx="4393267" cy="409517"/>
          </a:xfrm>
          <a:prstGeom prst="round2SameRect">
            <a:avLst/>
          </a:prstGeom>
          <a:solidFill>
            <a:srgbClr val="FFDB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MusicBrainz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A3CEFFE-3230-3AE6-55D3-B4EE17199676}"/>
              </a:ext>
            </a:extLst>
          </p:cNvPr>
          <p:cNvCxnSpPr>
            <a:cxnSpLocks/>
          </p:cNvCxnSpPr>
          <p:nvPr/>
        </p:nvCxnSpPr>
        <p:spPr>
          <a:xfrm>
            <a:off x="15095644" y="18742165"/>
            <a:ext cx="1488333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671F938F-EC69-D230-1A22-BDFC090E6146}"/>
              </a:ext>
            </a:extLst>
          </p:cNvPr>
          <p:cNvSpPr txBox="1"/>
          <p:nvPr/>
        </p:nvSpPr>
        <p:spPr>
          <a:xfrm>
            <a:off x="15095644" y="18903112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latin typeface="TeXGyrePagella" pitchFamily="2" charset="77"/>
                <a:ea typeface="CMU Serif Roman" panose="02000603000000000000" pitchFamily="2" charset="0"/>
                <a:cs typeface="CMU Serif Roman" panose="02000603000000000000" pitchFamily="2" charset="0"/>
              </a:rPr>
              <a:t>is part of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6AF7D9BA-9A58-6B31-85E0-42B02EE694FC}"/>
              </a:ext>
            </a:extLst>
          </p:cNvPr>
          <p:cNvCxnSpPr>
            <a:cxnSpLocks/>
          </p:cNvCxnSpPr>
          <p:nvPr/>
        </p:nvCxnSpPr>
        <p:spPr>
          <a:xfrm>
            <a:off x="15102795" y="19745149"/>
            <a:ext cx="1488333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8524B169-E594-55E9-6046-520BAA484847}"/>
              </a:ext>
            </a:extLst>
          </p:cNvPr>
          <p:cNvSpPr txBox="1"/>
          <p:nvPr/>
        </p:nvSpPr>
        <p:spPr>
          <a:xfrm>
            <a:off x="15016882" y="19860108"/>
            <a:ext cx="1574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>
                <a:latin typeface="TeXGyrePagella" pitchFamily="2" charset="77"/>
                <a:ea typeface="CMU Serif Roman" panose="02000603000000000000" pitchFamily="2" charset="0"/>
                <a:cs typeface="CMU Serif Roman" panose="02000603000000000000" pitchFamily="2" charset="0"/>
              </a:rPr>
              <a:t>is the same piece as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69C2128-2F42-5D9F-5C9E-2D2CCB3AA39F}"/>
              </a:ext>
            </a:extLst>
          </p:cNvPr>
          <p:cNvSpPr txBox="1"/>
          <p:nvPr/>
        </p:nvSpPr>
        <p:spPr>
          <a:xfrm>
            <a:off x="10375652" y="21370860"/>
            <a:ext cx="10665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TeXGyrePagella" pitchFamily="2" charset="77"/>
              </a:rPr>
              <a:t>N</a:t>
            </a:r>
            <a:r>
              <a:rPr lang="en-GB" sz="2800" dirty="0">
                <a:solidFill>
                  <a:srgbClr val="000000"/>
                </a:solidFill>
                <a:effectLst/>
                <a:latin typeface="TeXGyrePagella" pitchFamily="2" charset="77"/>
              </a:rPr>
              <a:t>o consistent meaning of ‘musical work’ across database schemas.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A58335E-3D38-19AF-F140-327A959442B5}"/>
              </a:ext>
            </a:extLst>
          </p:cNvPr>
          <p:cNvSpPr txBox="1"/>
          <p:nvPr/>
        </p:nvSpPr>
        <p:spPr>
          <a:xfrm>
            <a:off x="671598" y="20502883"/>
            <a:ext cx="89879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 err="1">
                <a:latin typeface="TeXGyrePagella" pitchFamily="2" charset="77"/>
              </a:rPr>
              <a:t>Peeters</a:t>
            </a:r>
            <a:r>
              <a:rPr lang="en-GB" sz="3600" dirty="0">
                <a:latin typeface="TeXGyrePagella" pitchFamily="2" charset="77"/>
              </a:rPr>
              <a:t> &amp; </a:t>
            </a:r>
            <a:r>
              <a:rPr lang="en-GB" sz="3600" dirty="0" err="1">
                <a:latin typeface="TeXGyrePagella" pitchFamily="2" charset="77"/>
              </a:rPr>
              <a:t>Bizer</a:t>
            </a:r>
            <a:r>
              <a:rPr lang="en-GB" sz="3600" dirty="0">
                <a:latin typeface="TeXGyrePagella" pitchFamily="2" charset="77"/>
              </a:rPr>
              <a:t> [2] showed that LLMs with little or no fine-tuning perform competitively on entity matching tasks.</a:t>
            </a:r>
          </a:p>
        </p:txBody>
      </p:sp>
      <p:sp>
        <p:nvSpPr>
          <p:cNvPr id="303" name="Rounded Rectangle 302">
            <a:extLst>
              <a:ext uri="{FF2B5EF4-FFF2-40B4-BE49-F238E27FC236}">
                <a16:creationId xmlns:a16="http://schemas.microsoft.com/office/drawing/2014/main" id="{FB0D781E-D038-B8BF-0A21-302BF9E5CF07}"/>
              </a:ext>
            </a:extLst>
          </p:cNvPr>
          <p:cNvSpPr/>
          <p:nvPr/>
        </p:nvSpPr>
        <p:spPr>
          <a:xfrm>
            <a:off x="611363" y="22779904"/>
            <a:ext cx="9048207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Method</a:t>
            </a: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D91F6D7B-71E0-B566-81EC-C84E9A3605A4}"/>
              </a:ext>
            </a:extLst>
          </p:cNvPr>
          <p:cNvGrpSpPr/>
          <p:nvPr/>
        </p:nvGrpSpPr>
        <p:grpSpPr>
          <a:xfrm>
            <a:off x="13528415" y="6134759"/>
            <a:ext cx="15758840" cy="5091275"/>
            <a:chOff x="12051914" y="6845959"/>
            <a:chExt cx="18593329" cy="6007026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A274EFB2-3153-D763-E584-4AB81AF73F53}"/>
                </a:ext>
              </a:extLst>
            </p:cNvPr>
            <p:cNvGrpSpPr/>
            <p:nvPr/>
          </p:nvGrpSpPr>
          <p:grpSpPr>
            <a:xfrm>
              <a:off x="12051914" y="6845959"/>
              <a:ext cx="15620153" cy="6007026"/>
              <a:chOff x="11090129" y="6846366"/>
              <a:chExt cx="18178307" cy="6990813"/>
            </a:xfrm>
          </p:grpSpPr>
          <p:sp>
            <p:nvSpPr>
              <p:cNvPr id="37" name="Can 36">
                <a:extLst>
                  <a:ext uri="{FF2B5EF4-FFF2-40B4-BE49-F238E27FC236}">
                    <a16:creationId xmlns:a16="http://schemas.microsoft.com/office/drawing/2014/main" id="{07ACA751-1A11-C98A-969B-C9220DEBA0E0}"/>
                  </a:ext>
                </a:extLst>
              </p:cNvPr>
              <p:cNvSpPr/>
              <p:nvPr/>
            </p:nvSpPr>
            <p:spPr>
              <a:xfrm>
                <a:off x="19537533" y="6846366"/>
                <a:ext cx="1304222" cy="1644457"/>
              </a:xfrm>
              <a:prstGeom prst="can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39" name="Can 38">
                <a:extLst>
                  <a:ext uri="{FF2B5EF4-FFF2-40B4-BE49-F238E27FC236}">
                    <a16:creationId xmlns:a16="http://schemas.microsoft.com/office/drawing/2014/main" id="{A6458D25-CAA9-93CC-931C-59099ED581D4}"/>
                  </a:ext>
                </a:extLst>
              </p:cNvPr>
              <p:cNvSpPr/>
              <p:nvPr/>
            </p:nvSpPr>
            <p:spPr>
              <a:xfrm>
                <a:off x="15138687" y="7579871"/>
                <a:ext cx="1304222" cy="1644458"/>
              </a:xfrm>
              <a:prstGeom prst="can">
                <a:avLst/>
              </a:prstGeom>
              <a:solidFill>
                <a:srgbClr val="EBEBF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BBA6572-784F-39F0-CBB0-F438E7C77C43}"/>
                  </a:ext>
                </a:extLst>
              </p:cNvPr>
              <p:cNvSpPr txBox="1"/>
              <p:nvPr/>
            </p:nvSpPr>
            <p:spPr>
              <a:xfrm>
                <a:off x="14055028" y="9288902"/>
                <a:ext cx="3471540" cy="718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800" b="1" dirty="0">
                    <a:latin typeface="TeXGyrePagella" pitchFamily="2" charset="77"/>
                  </a:rPr>
                  <a:t>Graded Pieces</a:t>
                </a: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9E65F533-DD5D-BE7F-A050-31BCF71FB0BB}"/>
                  </a:ext>
                </a:extLst>
              </p:cNvPr>
              <p:cNvCxnSpPr/>
              <p:nvPr/>
            </p:nvCxnSpPr>
            <p:spPr>
              <a:xfrm>
                <a:off x="13150007" y="8462914"/>
                <a:ext cx="1524000" cy="3600"/>
              </a:xfrm>
              <a:prstGeom prst="straightConnector1">
                <a:avLst/>
              </a:prstGeom>
              <a:ln w="28575">
                <a:solidFill>
                  <a:srgbClr val="68236E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586C40D4-55B9-13DC-6C74-E58093D3F80B}"/>
                  </a:ext>
                </a:extLst>
              </p:cNvPr>
              <p:cNvGrpSpPr/>
              <p:nvPr/>
            </p:nvGrpSpPr>
            <p:grpSpPr>
              <a:xfrm>
                <a:off x="11090129" y="6933098"/>
                <a:ext cx="1919615" cy="3413449"/>
                <a:chOff x="11090129" y="6933098"/>
                <a:chExt cx="1919615" cy="3413449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F2C421EB-EC0B-68DD-3635-0E854D40DCF5}"/>
                    </a:ext>
                  </a:extLst>
                </p:cNvPr>
                <p:cNvGrpSpPr/>
                <p:nvPr/>
              </p:nvGrpSpPr>
              <p:grpSpPr>
                <a:xfrm>
                  <a:off x="11090129" y="6933098"/>
                  <a:ext cx="1152665" cy="1644457"/>
                  <a:chOff x="13984940" y="7997626"/>
                  <a:chExt cx="1152665" cy="1644457"/>
                </a:xfrm>
              </p:grpSpPr>
              <p:sp>
                <p:nvSpPr>
                  <p:cNvPr id="54" name="Folded Corner 53">
                    <a:extLst>
                      <a:ext uri="{FF2B5EF4-FFF2-40B4-BE49-F238E27FC236}">
                        <a16:creationId xmlns:a16="http://schemas.microsoft.com/office/drawing/2014/main" id="{5717F495-125B-8289-170D-1220BDE934C3}"/>
                      </a:ext>
                    </a:extLst>
                  </p:cNvPr>
                  <p:cNvSpPr/>
                  <p:nvPr/>
                </p:nvSpPr>
                <p:spPr>
                  <a:xfrm>
                    <a:off x="13984940" y="7997626"/>
                    <a:ext cx="1152665" cy="1644457"/>
                  </a:xfrm>
                  <a:prstGeom prst="foldedCorner">
                    <a:avLst>
                      <a:gd name="adj" fmla="val 37255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5275F30-EC4C-56D2-A811-45103388549C}"/>
                      </a:ext>
                    </a:extLst>
                  </p:cNvPr>
                  <p:cNvSpPr txBox="1"/>
                  <p:nvPr/>
                </p:nvSpPr>
                <p:spPr>
                  <a:xfrm>
                    <a:off x="13984940" y="8079828"/>
                    <a:ext cx="1133536" cy="3803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200" b="1" dirty="0">
                        <a:latin typeface="TeXGyrePagella" pitchFamily="2" charset="77"/>
                      </a:rPr>
                      <a:t>RCM</a:t>
                    </a:r>
                  </a:p>
                </p:txBody>
              </p: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190BBD78-935C-9856-7488-1B10EBC6C5D3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583960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35BA362E-5D07-7F6A-6E71-65C82216F5D2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819854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AAF60A6C-9207-CACF-9A67-647FA2405875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9072267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D8252679-9C26-E5FB-495C-2DF8DB1B191D}"/>
                    </a:ext>
                  </a:extLst>
                </p:cNvPr>
                <p:cNvGrpSpPr/>
                <p:nvPr/>
              </p:nvGrpSpPr>
              <p:grpSpPr>
                <a:xfrm>
                  <a:off x="11375421" y="7313003"/>
                  <a:ext cx="1152665" cy="1644457"/>
                  <a:chOff x="13984940" y="7997626"/>
                  <a:chExt cx="1152665" cy="1644457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48" name="Folded Corner 47">
                    <a:extLst>
                      <a:ext uri="{FF2B5EF4-FFF2-40B4-BE49-F238E27FC236}">
                        <a16:creationId xmlns:a16="http://schemas.microsoft.com/office/drawing/2014/main" id="{B7A7E6D8-1FAF-00E4-AB71-772BF46C825C}"/>
                      </a:ext>
                    </a:extLst>
                  </p:cNvPr>
                  <p:cNvSpPr/>
                  <p:nvPr/>
                </p:nvSpPr>
                <p:spPr>
                  <a:xfrm>
                    <a:off x="13984940" y="7997626"/>
                    <a:ext cx="1152665" cy="1644457"/>
                  </a:xfrm>
                  <a:prstGeom prst="foldedCorner">
                    <a:avLst>
                      <a:gd name="adj" fmla="val 37255"/>
                    </a:avLst>
                  </a:prstGeom>
                  <a:grp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3BF7ED4A-470D-2016-460C-04632F8B561C}"/>
                      </a:ext>
                    </a:extLst>
                  </p:cNvPr>
                  <p:cNvSpPr txBox="1"/>
                  <p:nvPr/>
                </p:nvSpPr>
                <p:spPr>
                  <a:xfrm>
                    <a:off x="13984940" y="8079828"/>
                    <a:ext cx="1133536" cy="3803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200" b="1" dirty="0">
                        <a:latin typeface="TeXGyrePagella" pitchFamily="2" charset="77"/>
                      </a:rPr>
                      <a:t>Trinity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FA7C2BE9-1561-C851-78A4-ED38CADF345E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583960"/>
                    <a:ext cx="811512" cy="0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9D2CB139-7C53-94D9-8F8A-7D41E124568D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819854"/>
                    <a:ext cx="811512" cy="0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BA27677C-9ACF-AA02-97A3-0EC0F2AAB146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9072267"/>
                    <a:ext cx="811512" cy="0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53A55019-A9FB-BB25-4060-E713D22CE00F}"/>
                    </a:ext>
                  </a:extLst>
                </p:cNvPr>
                <p:cNvGrpSpPr/>
                <p:nvPr/>
              </p:nvGrpSpPr>
              <p:grpSpPr>
                <a:xfrm>
                  <a:off x="11666463" y="7692866"/>
                  <a:ext cx="1152665" cy="1644457"/>
                  <a:chOff x="13984940" y="7997626"/>
                  <a:chExt cx="1152665" cy="1644457"/>
                </a:xfrm>
              </p:grpSpPr>
              <p:sp>
                <p:nvSpPr>
                  <p:cNvPr id="40" name="Folded Corner 39">
                    <a:extLst>
                      <a:ext uri="{FF2B5EF4-FFF2-40B4-BE49-F238E27FC236}">
                        <a16:creationId xmlns:a16="http://schemas.microsoft.com/office/drawing/2014/main" id="{6B968675-B86F-629C-3BFD-750D08E22E58}"/>
                      </a:ext>
                    </a:extLst>
                  </p:cNvPr>
                  <p:cNvSpPr/>
                  <p:nvPr/>
                </p:nvSpPr>
                <p:spPr>
                  <a:xfrm>
                    <a:off x="13984940" y="7997626"/>
                    <a:ext cx="1152665" cy="1644457"/>
                  </a:xfrm>
                  <a:prstGeom prst="foldedCorner">
                    <a:avLst>
                      <a:gd name="adj" fmla="val 37255"/>
                    </a:avLst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52EE64B2-DE75-B42C-8E91-D6605CC4BF5B}"/>
                      </a:ext>
                    </a:extLst>
                  </p:cNvPr>
                  <p:cNvSpPr txBox="1"/>
                  <p:nvPr/>
                </p:nvSpPr>
                <p:spPr>
                  <a:xfrm>
                    <a:off x="13984940" y="8079828"/>
                    <a:ext cx="1133536" cy="3803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200" b="1" dirty="0">
                        <a:latin typeface="TeXGyrePagella" pitchFamily="2" charset="77"/>
                      </a:rPr>
                      <a:t>ABRSM</a:t>
                    </a:r>
                  </a:p>
                </p:txBody>
              </p: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9E72268F-7640-741F-BB97-5F7EF9AF2B3B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583960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9E5F5BB6-04D5-66AD-B46F-98143CE01A7A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8819854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E903F8B2-0537-9CFE-ACFE-E93CAA27CA07}"/>
                      </a:ext>
                    </a:extLst>
                  </p:cNvPr>
                  <p:cNvCxnSpPr/>
                  <p:nvPr/>
                </p:nvCxnSpPr>
                <p:spPr>
                  <a:xfrm>
                    <a:off x="14155515" y="9072267"/>
                    <a:ext cx="81151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8C93350-BD95-4250-98D2-B45899A3EBCC}"/>
                    </a:ext>
                  </a:extLst>
                </p:cNvPr>
                <p:cNvSpPr txBox="1"/>
                <p:nvPr/>
              </p:nvSpPr>
              <p:spPr>
                <a:xfrm>
                  <a:off x="11140321" y="9515550"/>
                  <a:ext cx="1869423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400" b="1" dirty="0">
                      <a:latin typeface="TeXGyrePagella" pitchFamily="2" charset="77"/>
                    </a:rPr>
                    <a:t>Exam Board</a:t>
                  </a:r>
                </a:p>
                <a:p>
                  <a:pPr algn="ctr"/>
                  <a:r>
                    <a:rPr lang="en-GB" sz="2400" b="1" dirty="0">
                      <a:latin typeface="TeXGyrePagella" pitchFamily="2" charset="77"/>
                    </a:rPr>
                    <a:t>Syllabi</a:t>
                  </a:r>
                </a:p>
              </p:txBody>
            </p:sp>
          </p:grpSp>
          <p:sp>
            <p:nvSpPr>
              <p:cNvPr id="65" name="Can 64">
                <a:extLst>
                  <a:ext uri="{FF2B5EF4-FFF2-40B4-BE49-F238E27FC236}">
                    <a16:creationId xmlns:a16="http://schemas.microsoft.com/office/drawing/2014/main" id="{17F5C98F-A588-829D-F770-1D83F855E64A}"/>
                  </a:ext>
                </a:extLst>
              </p:cNvPr>
              <p:cNvSpPr/>
              <p:nvPr/>
            </p:nvSpPr>
            <p:spPr>
              <a:xfrm>
                <a:off x="24070448" y="7435450"/>
                <a:ext cx="1304222" cy="1644458"/>
              </a:xfrm>
              <a:prstGeom prst="can">
                <a:avLst/>
              </a:prstGeom>
              <a:solidFill>
                <a:srgbClr val="C3F2F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EEB06FA-9FF1-F2A9-ED4C-46FDB6190BE8}"/>
                  </a:ext>
                </a:extLst>
              </p:cNvPr>
              <p:cNvSpPr txBox="1"/>
              <p:nvPr/>
            </p:nvSpPr>
            <p:spPr>
              <a:xfrm>
                <a:off x="23800115" y="9154295"/>
                <a:ext cx="1844886" cy="718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1" dirty="0">
                    <a:latin typeface="TeXGyrePagella" pitchFamily="2" charset="77"/>
                  </a:rPr>
                  <a:t>IMSLP</a:t>
                </a:r>
              </a:p>
            </p:txBody>
          </p: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21DA494C-FCEF-F6D9-25B9-D29245A20E35}"/>
                  </a:ext>
                </a:extLst>
              </p:cNvPr>
              <p:cNvGrpSpPr/>
              <p:nvPr/>
            </p:nvGrpSpPr>
            <p:grpSpPr>
              <a:xfrm>
                <a:off x="27875075" y="7423626"/>
                <a:ext cx="1393361" cy="1959237"/>
                <a:chOff x="27875075" y="7423626"/>
                <a:chExt cx="1393361" cy="1959237"/>
              </a:xfrm>
            </p:grpSpPr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75851606-9E22-2F80-7C79-6AD8D1628746}"/>
                    </a:ext>
                  </a:extLst>
                </p:cNvPr>
                <p:cNvGrpSpPr/>
                <p:nvPr/>
              </p:nvGrpSpPr>
              <p:grpSpPr>
                <a:xfrm>
                  <a:off x="27875075" y="7423626"/>
                  <a:ext cx="1152665" cy="1644457"/>
                  <a:chOff x="27466756" y="10469657"/>
                  <a:chExt cx="1152665" cy="1644457"/>
                </a:xfrm>
              </p:grpSpPr>
              <p:grpSp>
                <p:nvGrpSpPr>
                  <p:cNvPr id="215" name="Group 214">
                    <a:extLst>
                      <a:ext uri="{FF2B5EF4-FFF2-40B4-BE49-F238E27FC236}">
                        <a16:creationId xmlns:a16="http://schemas.microsoft.com/office/drawing/2014/main" id="{FF949417-2154-03BE-23F3-41AC5B92AA85}"/>
                      </a:ext>
                    </a:extLst>
                  </p:cNvPr>
                  <p:cNvGrpSpPr/>
                  <p:nvPr/>
                </p:nvGrpSpPr>
                <p:grpSpPr>
                  <a:xfrm>
                    <a:off x="27466756" y="10469657"/>
                    <a:ext cx="1152665" cy="1644457"/>
                    <a:chOff x="27466756" y="10469657"/>
                    <a:chExt cx="1152665" cy="1644457"/>
                  </a:xfrm>
                </p:grpSpPr>
                <p:grpSp>
                  <p:nvGrpSpPr>
                    <p:cNvPr id="219" name="Group 218">
                      <a:extLst>
                        <a:ext uri="{FF2B5EF4-FFF2-40B4-BE49-F238E27FC236}">
                          <a16:creationId xmlns:a16="http://schemas.microsoft.com/office/drawing/2014/main" id="{0243E1C3-CE3A-EF03-2BB7-C2B81C7874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66756" y="10469657"/>
                      <a:ext cx="1152665" cy="1644457"/>
                      <a:chOff x="13984940" y="7997626"/>
                      <a:chExt cx="1152665" cy="1644457"/>
                    </a:xfrm>
                  </p:grpSpPr>
                  <p:sp>
                    <p:nvSpPr>
                      <p:cNvPr id="221" name="Folded Corner 220">
                        <a:extLst>
                          <a:ext uri="{FF2B5EF4-FFF2-40B4-BE49-F238E27FC236}">
                            <a16:creationId xmlns:a16="http://schemas.microsoft.com/office/drawing/2014/main" id="{28D4C6BE-4BAA-D407-7641-CDA5373B48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984940" y="7997626"/>
                        <a:ext cx="1152665" cy="1644457"/>
                      </a:xfrm>
                      <a:prstGeom prst="foldedCorner">
                        <a:avLst>
                          <a:gd name="adj" fmla="val 37255"/>
                        </a:avLst>
                      </a:prstGeom>
                      <a:solidFill>
                        <a:schemeClr val="bg1">
                          <a:lumMod val="95000"/>
                        </a:schemeClr>
                      </a:solidFill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0452FBD2-62C3-273C-DDE8-2677B71C1A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84940" y="8032147"/>
                        <a:ext cx="1133536" cy="4226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400" b="1" dirty="0">
                            <a:latin typeface="TeXGyrePagella" pitchFamily="2" charset="77"/>
                          </a:rPr>
                          <a:t>Score</a:t>
                        </a:r>
                      </a:p>
                    </p:txBody>
                  </p:sp>
                  <p:cxnSp>
                    <p:nvCxnSpPr>
                      <p:cNvPr id="223" name="Straight Connector 222">
                        <a:extLst>
                          <a:ext uri="{FF2B5EF4-FFF2-40B4-BE49-F238E27FC236}">
                            <a16:creationId xmlns:a16="http://schemas.microsoft.com/office/drawing/2014/main" id="{483E2C43-4C1F-B005-94A8-074AF9D3C73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474581" y="8583960"/>
                        <a:ext cx="492446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Straight Connector 223">
                        <a:extLst>
                          <a:ext uri="{FF2B5EF4-FFF2-40B4-BE49-F238E27FC236}">
                            <a16:creationId xmlns:a16="http://schemas.microsoft.com/office/drawing/2014/main" id="{7345F10D-A2AD-8288-1D8B-0C5225D69C7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155515" y="9211664"/>
                        <a:ext cx="811512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20" name="Picture 219">
                      <a:extLst>
                        <a:ext uri="{FF2B5EF4-FFF2-40B4-BE49-F238E27FC236}">
                          <a16:creationId xmlns:a16="http://schemas.microsoft.com/office/drawing/2014/main" id="{9C80870D-D6D5-A4C7-964D-341B459D335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7509617" y="10868152"/>
                      <a:ext cx="403919" cy="689151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A4905C78-7E8C-E685-A91D-335A39D2CB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212727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6F876399-C2CF-A670-0040-F92DAC440F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374364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32A93D48-3A16-A6F8-0C2F-8F3115A2BA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529595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7FB889DF-D23B-EECF-7F95-0E157D6576C1}"/>
                    </a:ext>
                  </a:extLst>
                </p:cNvPr>
                <p:cNvGrpSpPr/>
                <p:nvPr/>
              </p:nvGrpSpPr>
              <p:grpSpPr>
                <a:xfrm>
                  <a:off x="28115771" y="7738406"/>
                  <a:ext cx="1152665" cy="1644457"/>
                  <a:chOff x="27466756" y="10469657"/>
                  <a:chExt cx="1152665" cy="1644457"/>
                </a:xfrm>
              </p:grpSpPr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006CF8A8-8AFE-9FC5-7D89-7FBB679557DD}"/>
                      </a:ext>
                    </a:extLst>
                  </p:cNvPr>
                  <p:cNvGrpSpPr/>
                  <p:nvPr/>
                </p:nvGrpSpPr>
                <p:grpSpPr>
                  <a:xfrm>
                    <a:off x="27466756" y="10469657"/>
                    <a:ext cx="1152665" cy="1644457"/>
                    <a:chOff x="27466756" y="10469657"/>
                    <a:chExt cx="1152665" cy="1644457"/>
                  </a:xfrm>
                </p:grpSpPr>
                <p:grpSp>
                  <p:nvGrpSpPr>
                    <p:cNvPr id="189" name="Group 188">
                      <a:extLst>
                        <a:ext uri="{FF2B5EF4-FFF2-40B4-BE49-F238E27FC236}">
                          <a16:creationId xmlns:a16="http://schemas.microsoft.com/office/drawing/2014/main" id="{FD9C04E6-CD3D-E8A7-2FBC-25ABF2FB14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66756" y="10469657"/>
                      <a:ext cx="1152665" cy="1644457"/>
                      <a:chOff x="13984940" y="7997626"/>
                      <a:chExt cx="1152665" cy="1644457"/>
                    </a:xfrm>
                  </p:grpSpPr>
                  <p:sp>
                    <p:nvSpPr>
                      <p:cNvPr id="190" name="Folded Corner 189">
                        <a:extLst>
                          <a:ext uri="{FF2B5EF4-FFF2-40B4-BE49-F238E27FC236}">
                            <a16:creationId xmlns:a16="http://schemas.microsoft.com/office/drawing/2014/main" id="{DED71CA0-B6D7-5F7F-A9B3-BECBD0316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984940" y="7997626"/>
                        <a:ext cx="1152665" cy="1644457"/>
                      </a:xfrm>
                      <a:prstGeom prst="foldedCorner">
                        <a:avLst>
                          <a:gd name="adj" fmla="val 37255"/>
                        </a:avLst>
                      </a:prstGeom>
                      <a:solidFill>
                        <a:schemeClr val="bg1"/>
                      </a:solidFill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91" name="TextBox 190">
                        <a:extLst>
                          <a:ext uri="{FF2B5EF4-FFF2-40B4-BE49-F238E27FC236}">
                            <a16:creationId xmlns:a16="http://schemas.microsoft.com/office/drawing/2014/main" id="{FF3B7D1E-9529-F3BB-7758-CEE58EB2718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84940" y="8048041"/>
                        <a:ext cx="1133536" cy="4226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400" b="1" dirty="0">
                            <a:latin typeface="TeXGyrePagella" pitchFamily="2" charset="77"/>
                          </a:rPr>
                          <a:t>Score</a:t>
                        </a:r>
                      </a:p>
                    </p:txBody>
                  </p:sp>
                  <p:cxnSp>
                    <p:nvCxnSpPr>
                      <p:cNvPr id="192" name="Straight Connector 191">
                        <a:extLst>
                          <a:ext uri="{FF2B5EF4-FFF2-40B4-BE49-F238E27FC236}">
                            <a16:creationId xmlns:a16="http://schemas.microsoft.com/office/drawing/2014/main" id="{80870B9F-3ABF-436C-6FD8-01FD4156DE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474581" y="8583960"/>
                        <a:ext cx="492446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Straight Connector 193">
                        <a:extLst>
                          <a:ext uri="{FF2B5EF4-FFF2-40B4-BE49-F238E27FC236}">
                            <a16:creationId xmlns:a16="http://schemas.microsoft.com/office/drawing/2014/main" id="{DD356585-C5BA-46F8-C703-D339EB31412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155515" y="9211664"/>
                        <a:ext cx="811512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01" name="Picture 200">
                      <a:extLst>
                        <a:ext uri="{FF2B5EF4-FFF2-40B4-BE49-F238E27FC236}">
                          <a16:creationId xmlns:a16="http://schemas.microsoft.com/office/drawing/2014/main" id="{9A06ED10-6E2C-896A-1B9D-A389FCF3F0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7509617" y="10868152"/>
                      <a:ext cx="403919" cy="689151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409FD00A-FD1C-C212-A9A9-ED01307AD3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212727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79F3ECC7-371A-E076-6DFC-2E7DCA6732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374364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6B091209-2BF3-A3FD-C50A-7252B685CB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56397" y="11529595"/>
                    <a:ext cx="492446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3" name="Can 272">
                <a:extLst>
                  <a:ext uri="{FF2B5EF4-FFF2-40B4-BE49-F238E27FC236}">
                    <a16:creationId xmlns:a16="http://schemas.microsoft.com/office/drawing/2014/main" id="{41905181-660D-6567-672B-AE4B414FFA74}"/>
                  </a:ext>
                </a:extLst>
              </p:cNvPr>
              <p:cNvSpPr/>
              <p:nvPr/>
            </p:nvSpPr>
            <p:spPr>
              <a:xfrm>
                <a:off x="15138686" y="10232812"/>
                <a:ext cx="1304222" cy="1644458"/>
              </a:xfrm>
              <a:prstGeom prst="can">
                <a:avLst/>
              </a:prstGeom>
              <a:solidFill>
                <a:srgbClr val="FAF6B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sp>
            <p:nvSpPr>
              <p:cNvPr id="274" name="Can 273">
                <a:extLst>
                  <a:ext uri="{FF2B5EF4-FFF2-40B4-BE49-F238E27FC236}">
                    <a16:creationId xmlns:a16="http://schemas.microsoft.com/office/drawing/2014/main" id="{154D7320-FD8D-684B-B88F-89706DAFF249}"/>
                  </a:ext>
                </a:extLst>
              </p:cNvPr>
              <p:cNvSpPr/>
              <p:nvPr/>
            </p:nvSpPr>
            <p:spPr>
              <a:xfrm>
                <a:off x="24070447" y="10164019"/>
                <a:ext cx="1304222" cy="1644458"/>
              </a:xfrm>
              <a:prstGeom prst="can">
                <a:avLst/>
              </a:prstGeom>
              <a:solidFill>
                <a:srgbClr val="D9FFD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F3E4E7F8-6AE4-FBA2-F999-99985143C332}"/>
                  </a:ext>
                </a:extLst>
              </p:cNvPr>
              <p:cNvGrpSpPr/>
              <p:nvPr/>
            </p:nvGrpSpPr>
            <p:grpSpPr>
              <a:xfrm>
                <a:off x="22816559" y="11889209"/>
                <a:ext cx="3819489" cy="1947970"/>
                <a:chOff x="23655423" y="12033630"/>
                <a:chExt cx="3819489" cy="1947970"/>
              </a:xfrm>
            </p:grpSpPr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CABED0C0-26DA-2314-6F57-5B56D469A225}"/>
                    </a:ext>
                  </a:extLst>
                </p:cNvPr>
                <p:cNvSpPr txBox="1"/>
                <p:nvPr/>
              </p:nvSpPr>
              <p:spPr>
                <a:xfrm>
                  <a:off x="23655423" y="12033630"/>
                  <a:ext cx="3819489" cy="13100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800" b="1" dirty="0">
                      <a:latin typeface="TeXGyrePagella" pitchFamily="2" charset="77"/>
                    </a:rPr>
                    <a:t>Other Sheet Music Corpora</a:t>
                  </a:r>
                </a:p>
              </p:txBody>
            </p:sp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83875518-B20B-4443-B59E-5DAE0BFC1DD8}"/>
                    </a:ext>
                  </a:extLst>
                </p:cNvPr>
                <p:cNvSpPr txBox="1"/>
                <p:nvPr/>
              </p:nvSpPr>
              <p:spPr>
                <a:xfrm>
                  <a:off x="24072441" y="13263168"/>
                  <a:ext cx="2977959" cy="7184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2800" i="1" dirty="0">
                      <a:latin typeface="TeXGyrePagella" pitchFamily="2" charset="77"/>
                    </a:rPr>
                    <a:t>(e.g. PDMX)</a:t>
                  </a:r>
                </a:p>
              </p:txBody>
            </p:sp>
          </p:grp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3F5C0BCA-F60E-57C5-0587-6277013D6BFF}"/>
                  </a:ext>
                </a:extLst>
              </p:cNvPr>
              <p:cNvGrpSpPr/>
              <p:nvPr/>
            </p:nvGrpSpPr>
            <p:grpSpPr>
              <a:xfrm>
                <a:off x="12902547" y="11970389"/>
                <a:ext cx="5769012" cy="1722554"/>
                <a:chOff x="22673170" y="12033630"/>
                <a:chExt cx="5769012" cy="1722554"/>
              </a:xfrm>
            </p:grpSpPr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93B723D2-775C-D5A2-D07A-8F4152F766CE}"/>
                    </a:ext>
                  </a:extLst>
                </p:cNvPr>
                <p:cNvSpPr txBox="1"/>
                <p:nvPr/>
              </p:nvSpPr>
              <p:spPr>
                <a:xfrm>
                  <a:off x="23647932" y="12033630"/>
                  <a:ext cx="3819489" cy="1141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400" b="1" dirty="0">
                      <a:latin typeface="TeXGyrePagella" pitchFamily="2" charset="77"/>
                    </a:rPr>
                    <a:t>Other Difficulty Datasets</a:t>
                  </a:r>
                </a:p>
              </p:txBody>
            </p:sp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48704668-8C98-31B7-85D1-710772633A85}"/>
                    </a:ext>
                  </a:extLst>
                </p:cNvPr>
                <p:cNvSpPr txBox="1"/>
                <p:nvPr/>
              </p:nvSpPr>
              <p:spPr>
                <a:xfrm>
                  <a:off x="22673170" y="13037752"/>
                  <a:ext cx="5769012" cy="7184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2800" i="1" dirty="0">
                      <a:latin typeface="TeXGyrePagella" pitchFamily="2" charset="77"/>
                    </a:rPr>
                    <a:t>(e.g. CIPI, </a:t>
                  </a:r>
                  <a:r>
                    <a:rPr lang="en-GB" sz="2800" i="1" dirty="0" err="1">
                      <a:latin typeface="TeXGyrePagella" pitchFamily="2" charset="77"/>
                    </a:rPr>
                    <a:t>PianoStreet</a:t>
                  </a:r>
                  <a:r>
                    <a:rPr lang="en-GB" sz="2800" i="1" dirty="0">
                      <a:latin typeface="TeXGyrePagella" pitchFamily="2" charset="77"/>
                    </a:rPr>
                    <a:t>, etc)</a:t>
                  </a:r>
                </a:p>
              </p:txBody>
            </p:sp>
          </p:grpSp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854B44E6-D434-CD66-849D-C05A38B6C555}"/>
                  </a:ext>
                </a:extLst>
              </p:cNvPr>
              <p:cNvGrpSpPr/>
              <p:nvPr/>
            </p:nvGrpSpPr>
            <p:grpSpPr>
              <a:xfrm>
                <a:off x="16958770" y="7738406"/>
                <a:ext cx="2103426" cy="3146073"/>
                <a:chOff x="17391904" y="7738406"/>
                <a:chExt cx="2103426" cy="3146073"/>
              </a:xfrm>
            </p:grpSpPr>
            <p:cxnSp>
              <p:nvCxnSpPr>
                <p:cNvPr id="227" name="Straight Arrow Connector 226">
                  <a:extLst>
                    <a:ext uri="{FF2B5EF4-FFF2-40B4-BE49-F238E27FC236}">
                      <a16:creationId xmlns:a16="http://schemas.microsoft.com/office/drawing/2014/main" id="{9A54207C-5CBF-6271-B288-192B388E0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419719" y="7738406"/>
                  <a:ext cx="2075611" cy="686495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Arrow Connector 281">
                  <a:extLst>
                    <a:ext uri="{FF2B5EF4-FFF2-40B4-BE49-F238E27FC236}">
                      <a16:creationId xmlns:a16="http://schemas.microsoft.com/office/drawing/2014/main" id="{97DF8F80-ABC2-FD83-4D4B-B36FECD4A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91904" y="8424901"/>
                  <a:ext cx="1998392" cy="2459578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BC23F272-A7D2-0E30-1726-F862B1F85CFA}"/>
                  </a:ext>
                </a:extLst>
              </p:cNvPr>
              <p:cNvSpPr txBox="1"/>
              <p:nvPr/>
            </p:nvSpPr>
            <p:spPr>
              <a:xfrm>
                <a:off x="18975791" y="8528420"/>
                <a:ext cx="2448039" cy="718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800" b="1" dirty="0" err="1">
                    <a:latin typeface="TeXGyrePagella" pitchFamily="2" charset="77"/>
                  </a:rPr>
                  <a:t>WikiData</a:t>
                </a:r>
                <a:endParaRPr lang="en-GB" sz="2800" b="1" dirty="0">
                  <a:latin typeface="TeXGyrePagella" pitchFamily="2" charset="77"/>
                </a:endParaRPr>
              </a:p>
            </p:txBody>
          </p: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D9E08D29-BD6C-86BF-E1C0-B90C2EDCBFC2}"/>
                  </a:ext>
                </a:extLst>
              </p:cNvPr>
              <p:cNvGrpSpPr/>
              <p:nvPr/>
            </p:nvGrpSpPr>
            <p:grpSpPr>
              <a:xfrm>
                <a:off x="18606428" y="10790726"/>
                <a:ext cx="3128173" cy="2462082"/>
                <a:chOff x="19039562" y="11036052"/>
                <a:chExt cx="3128173" cy="2462082"/>
              </a:xfrm>
            </p:grpSpPr>
            <p:sp>
              <p:nvSpPr>
                <p:cNvPr id="62" name="Can 61">
                  <a:extLst>
                    <a:ext uri="{FF2B5EF4-FFF2-40B4-BE49-F238E27FC236}">
                      <a16:creationId xmlns:a16="http://schemas.microsoft.com/office/drawing/2014/main" id="{FCDD11EA-5C5D-77C1-6C6A-BAC7B66AB5DD}"/>
                    </a:ext>
                  </a:extLst>
                </p:cNvPr>
                <p:cNvSpPr/>
                <p:nvPr/>
              </p:nvSpPr>
              <p:spPr>
                <a:xfrm>
                  <a:off x="19951538" y="11036052"/>
                  <a:ext cx="1323351" cy="1644458"/>
                </a:xfrm>
                <a:prstGeom prst="can">
                  <a:avLst/>
                </a:prstGeom>
                <a:solidFill>
                  <a:srgbClr val="FFDBF4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 dirty="0"/>
                </a:p>
              </p:txBody>
            </p: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844F0DE0-4826-7C33-7F61-A6609E9575D8}"/>
                    </a:ext>
                  </a:extLst>
                </p:cNvPr>
                <p:cNvSpPr txBox="1"/>
                <p:nvPr/>
              </p:nvSpPr>
              <p:spPr>
                <a:xfrm>
                  <a:off x="19039562" y="12779703"/>
                  <a:ext cx="3128173" cy="7184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800" b="1" dirty="0" err="1">
                      <a:latin typeface="TeXGyrePagella" pitchFamily="2" charset="77"/>
                    </a:rPr>
                    <a:t>MusicBrainz</a:t>
                  </a:r>
                  <a:endParaRPr lang="en-GB" sz="2800" b="1" dirty="0">
                    <a:latin typeface="TeXGyrePagella" pitchFamily="2" charset="77"/>
                  </a:endParaRPr>
                </a:p>
              </p:txBody>
            </p:sp>
          </p:grp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79A525CF-B5D9-D93D-28B0-F144776747E4}"/>
                  </a:ext>
                </a:extLst>
              </p:cNvPr>
              <p:cNvGrpSpPr/>
              <p:nvPr/>
            </p:nvGrpSpPr>
            <p:grpSpPr>
              <a:xfrm flipH="1">
                <a:off x="21522738" y="7744282"/>
                <a:ext cx="2102400" cy="3146073"/>
                <a:chOff x="17391904" y="7738406"/>
                <a:chExt cx="2103426" cy="3146073"/>
              </a:xfrm>
            </p:grpSpPr>
            <p:cxnSp>
              <p:nvCxnSpPr>
                <p:cNvPr id="297" name="Straight Arrow Connector 296">
                  <a:extLst>
                    <a:ext uri="{FF2B5EF4-FFF2-40B4-BE49-F238E27FC236}">
                      <a16:creationId xmlns:a16="http://schemas.microsoft.com/office/drawing/2014/main" id="{BF92678C-3B50-2BB9-8EE1-032ECD341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419719" y="7738406"/>
                  <a:ext cx="2075611" cy="686495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Arrow Connector 297">
                  <a:extLst>
                    <a:ext uri="{FF2B5EF4-FFF2-40B4-BE49-F238E27FC236}">
                      <a16:creationId xmlns:a16="http://schemas.microsoft.com/office/drawing/2014/main" id="{E3BC45F8-CEF7-C764-8FBC-759221FC54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91904" y="8424901"/>
                  <a:ext cx="1998392" cy="2459578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52494370-4AE9-D1BB-A2ED-59B4A17D236B}"/>
                  </a:ext>
                </a:extLst>
              </p:cNvPr>
              <p:cNvCxnSpPr/>
              <p:nvPr/>
            </p:nvCxnSpPr>
            <p:spPr>
              <a:xfrm>
                <a:off x="25821972" y="8462914"/>
                <a:ext cx="1524000" cy="3600"/>
              </a:xfrm>
              <a:prstGeom prst="straightConnector1">
                <a:avLst/>
              </a:prstGeom>
              <a:ln w="28575">
                <a:solidFill>
                  <a:srgbClr val="68236E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5" name="Straight Arrow Connector 304">
                <a:extLst>
                  <a:ext uri="{FF2B5EF4-FFF2-40B4-BE49-F238E27FC236}">
                    <a16:creationId xmlns:a16="http://schemas.microsoft.com/office/drawing/2014/main" id="{6FA6EC80-D0CC-598E-56CB-7424CD0410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13835" y="9280785"/>
                <a:ext cx="0" cy="1065762"/>
              </a:xfrm>
              <a:prstGeom prst="straightConnector1">
                <a:avLst/>
              </a:prstGeom>
              <a:ln w="28575">
                <a:prstDash val="dash"/>
                <a:headEnd type="arrow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E3C1B0C3-8227-32D4-F19F-1C5DFC50DEBE}"/>
                  </a:ext>
                </a:extLst>
              </p:cNvPr>
              <p:cNvGrpSpPr/>
              <p:nvPr/>
            </p:nvGrpSpPr>
            <p:grpSpPr>
              <a:xfrm flipH="1" flipV="1">
                <a:off x="21527137" y="8334232"/>
                <a:ext cx="2102400" cy="3146400"/>
                <a:chOff x="17391904" y="7738406"/>
                <a:chExt cx="2103426" cy="3146073"/>
              </a:xfrm>
            </p:grpSpPr>
            <p:cxnSp>
              <p:nvCxnSpPr>
                <p:cNvPr id="308" name="Straight Arrow Connector 307">
                  <a:extLst>
                    <a:ext uri="{FF2B5EF4-FFF2-40B4-BE49-F238E27FC236}">
                      <a16:creationId xmlns:a16="http://schemas.microsoft.com/office/drawing/2014/main" id="{A63D234F-E3AA-730F-7C83-E4453749C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419719" y="7738406"/>
                  <a:ext cx="2075611" cy="686495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Arrow Connector 308">
                  <a:extLst>
                    <a:ext uri="{FF2B5EF4-FFF2-40B4-BE49-F238E27FC236}">
                      <a16:creationId xmlns:a16="http://schemas.microsoft.com/office/drawing/2014/main" id="{EE52EB83-C8E4-2D70-A73F-53D959BB4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91904" y="8424901"/>
                  <a:ext cx="1998392" cy="2459578"/>
                </a:xfrm>
                <a:prstGeom prst="straightConnector1">
                  <a:avLst/>
                </a:prstGeom>
                <a:ln w="28575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1D6D12D3-72D8-064C-6D13-88C2F09D2E96}"/>
                </a:ext>
              </a:extLst>
            </p:cNvPr>
            <p:cNvGrpSpPr/>
            <p:nvPr/>
          </p:nvGrpSpPr>
          <p:grpSpPr>
            <a:xfrm flipV="1">
              <a:off x="17090913" y="8109715"/>
              <a:ext cx="1807420" cy="2707200"/>
              <a:chOff x="17126670" y="9075754"/>
              <a:chExt cx="1807420" cy="2703340"/>
            </a:xfrm>
          </p:grpSpPr>
          <p:cxnSp>
            <p:nvCxnSpPr>
              <p:cNvPr id="316" name="Straight Arrow Connector 315">
                <a:extLst>
                  <a:ext uri="{FF2B5EF4-FFF2-40B4-BE49-F238E27FC236}">
                    <a16:creationId xmlns:a16="http://schemas.microsoft.com/office/drawing/2014/main" id="{D79060DF-A41C-EB75-D641-ADFDBAAA95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50571" y="9075754"/>
                <a:ext cx="1783519" cy="589888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7" name="Straight Arrow Connector 316">
                <a:extLst>
                  <a:ext uri="{FF2B5EF4-FFF2-40B4-BE49-F238E27FC236}">
                    <a16:creationId xmlns:a16="http://schemas.microsoft.com/office/drawing/2014/main" id="{FBF220C0-2A41-C176-60DD-4444CC0317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26670" y="9665642"/>
                <a:ext cx="1717167" cy="2113452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CE68AAA3-CF94-1BFB-1488-AACDFB3308B4}"/>
                </a:ext>
              </a:extLst>
            </p:cNvPr>
            <p:cNvCxnSpPr/>
            <p:nvPr/>
          </p:nvCxnSpPr>
          <p:spPr>
            <a:xfrm>
              <a:off x="25951521" y="11965387"/>
              <a:ext cx="937189" cy="0"/>
            </a:xfrm>
            <a:prstGeom prst="straightConnector1">
              <a:avLst/>
            </a:prstGeom>
            <a:ln w="28575">
              <a:prstDash val="dash"/>
              <a:headEnd type="arrow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11E962CF-4BCC-B35B-A668-9AF62B2E520E}"/>
                </a:ext>
              </a:extLst>
            </p:cNvPr>
            <p:cNvSpPr txBox="1"/>
            <p:nvPr/>
          </p:nvSpPr>
          <p:spPr>
            <a:xfrm>
              <a:off x="26937858" y="11735821"/>
              <a:ext cx="3707385" cy="544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400" dirty="0">
                  <a:latin typeface="CMU Concrete Roman" panose="02000603000000000000" pitchFamily="2" charset="0"/>
                  <a:ea typeface="CMU Concrete Roman" panose="02000603000000000000" pitchFamily="2" charset="0"/>
                  <a:cs typeface="CMU Concrete Roman" panose="02000603000000000000" pitchFamily="2" charset="0"/>
                </a:rPr>
                <a:t>Existing (partial) link</a:t>
              </a:r>
            </a:p>
          </p:txBody>
        </p: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821DAE77-183D-9A4F-1504-D9532099EB24}"/>
              </a:ext>
            </a:extLst>
          </p:cNvPr>
          <p:cNvGrpSpPr/>
          <p:nvPr/>
        </p:nvGrpSpPr>
        <p:grpSpPr>
          <a:xfrm>
            <a:off x="627702" y="23968517"/>
            <a:ext cx="9311337" cy="6656905"/>
            <a:chOff x="627702" y="25625867"/>
            <a:chExt cx="9311337" cy="6656905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86C0D93A-6601-E28D-34C3-4DF8CF76C1EA}"/>
                </a:ext>
              </a:extLst>
            </p:cNvPr>
            <p:cNvGrpSpPr/>
            <p:nvPr/>
          </p:nvGrpSpPr>
          <p:grpSpPr>
            <a:xfrm>
              <a:off x="6225857" y="25718023"/>
              <a:ext cx="3713182" cy="3002466"/>
              <a:chOff x="6722016" y="27343023"/>
              <a:chExt cx="3713182" cy="3002466"/>
            </a:xfrm>
          </p:grpSpPr>
          <p:grpSp>
            <p:nvGrpSpPr>
              <p:cNvPr id="424" name="Group 423">
                <a:extLst>
                  <a:ext uri="{FF2B5EF4-FFF2-40B4-BE49-F238E27FC236}">
                    <a16:creationId xmlns:a16="http://schemas.microsoft.com/office/drawing/2014/main" id="{90B7E014-DEF3-4D9A-4799-41F5053E1409}"/>
                  </a:ext>
                </a:extLst>
              </p:cNvPr>
              <p:cNvGrpSpPr/>
              <p:nvPr/>
            </p:nvGrpSpPr>
            <p:grpSpPr>
              <a:xfrm>
                <a:off x="6722016" y="27458409"/>
                <a:ext cx="2225737" cy="2385766"/>
                <a:chOff x="9264662" y="19888439"/>
                <a:chExt cx="2161040" cy="2574251"/>
              </a:xfrm>
            </p:grpSpPr>
            <p:grpSp>
              <p:nvGrpSpPr>
                <p:cNvPr id="425" name="Group 424">
                  <a:extLst>
                    <a:ext uri="{FF2B5EF4-FFF2-40B4-BE49-F238E27FC236}">
                      <a16:creationId xmlns:a16="http://schemas.microsoft.com/office/drawing/2014/main" id="{B8D93CB7-7AE1-42D7-3617-9221BEBF41E3}"/>
                    </a:ext>
                  </a:extLst>
                </p:cNvPr>
                <p:cNvGrpSpPr/>
                <p:nvPr/>
              </p:nvGrpSpPr>
              <p:grpSpPr>
                <a:xfrm>
                  <a:off x="9264662" y="19888439"/>
                  <a:ext cx="1847709" cy="2574251"/>
                  <a:chOff x="3361434" y="2246109"/>
                  <a:chExt cx="1632785" cy="2274816"/>
                </a:xfrm>
              </p:grpSpPr>
              <p:sp>
                <p:nvSpPr>
                  <p:cNvPr id="427" name="Can 426">
                    <a:extLst>
                      <a:ext uri="{FF2B5EF4-FFF2-40B4-BE49-F238E27FC236}">
                        <a16:creationId xmlns:a16="http://schemas.microsoft.com/office/drawing/2014/main" id="{57099251-103A-F7D0-19FB-6A9815DD93F4}"/>
                      </a:ext>
                    </a:extLst>
                  </p:cNvPr>
                  <p:cNvSpPr/>
                  <p:nvPr/>
                </p:nvSpPr>
                <p:spPr>
                  <a:xfrm>
                    <a:off x="4454958" y="2246109"/>
                    <a:ext cx="539261" cy="679939"/>
                  </a:xfrm>
                  <a:prstGeom prst="can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28" name="Can 427">
                    <a:extLst>
                      <a:ext uri="{FF2B5EF4-FFF2-40B4-BE49-F238E27FC236}">
                        <a16:creationId xmlns:a16="http://schemas.microsoft.com/office/drawing/2014/main" id="{9A10C7FC-6275-7194-9A48-8DD9CEA702C9}"/>
                      </a:ext>
                    </a:extLst>
                  </p:cNvPr>
                  <p:cNvSpPr/>
                  <p:nvPr/>
                </p:nvSpPr>
                <p:spPr>
                  <a:xfrm>
                    <a:off x="3361434" y="3115025"/>
                    <a:ext cx="439655" cy="554349"/>
                  </a:xfrm>
                  <a:prstGeom prst="can">
                    <a:avLst/>
                  </a:prstGeom>
                  <a:solidFill>
                    <a:srgbClr val="FAF6BA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29" name="Can 428">
                    <a:extLst>
                      <a:ext uri="{FF2B5EF4-FFF2-40B4-BE49-F238E27FC236}">
                        <a16:creationId xmlns:a16="http://schemas.microsoft.com/office/drawing/2014/main" id="{3A5A8536-B76B-E349-16F9-03B9CC443053}"/>
                      </a:ext>
                    </a:extLst>
                  </p:cNvPr>
                  <p:cNvSpPr/>
                  <p:nvPr/>
                </p:nvSpPr>
                <p:spPr>
                  <a:xfrm>
                    <a:off x="3361434" y="2308596"/>
                    <a:ext cx="439655" cy="554349"/>
                  </a:xfrm>
                  <a:prstGeom prst="can">
                    <a:avLst/>
                  </a:prstGeom>
                  <a:solidFill>
                    <a:srgbClr val="EBEBFF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430" name="Can 429">
                    <a:extLst>
                      <a:ext uri="{FF2B5EF4-FFF2-40B4-BE49-F238E27FC236}">
                        <a16:creationId xmlns:a16="http://schemas.microsoft.com/office/drawing/2014/main" id="{3E80D7A0-810D-4CFA-7531-056586513E4C}"/>
                      </a:ext>
                    </a:extLst>
                  </p:cNvPr>
                  <p:cNvSpPr/>
                  <p:nvPr/>
                </p:nvSpPr>
                <p:spPr>
                  <a:xfrm>
                    <a:off x="4444847" y="3840988"/>
                    <a:ext cx="539260" cy="679937"/>
                  </a:xfrm>
                  <a:prstGeom prst="can">
                    <a:avLst/>
                  </a:prstGeom>
                  <a:solidFill>
                    <a:srgbClr val="FFDBF4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C639617E-2954-74FA-BF10-FAABBBEC56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67924" y="2585771"/>
                    <a:ext cx="361387" cy="0"/>
                  </a:xfrm>
                  <a:prstGeom prst="lin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8575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6" name="TextBox 425">
                  <a:extLst>
                    <a:ext uri="{FF2B5EF4-FFF2-40B4-BE49-F238E27FC236}">
                      <a16:creationId xmlns:a16="http://schemas.microsoft.com/office/drawing/2014/main" id="{6A4B75EB-DCD7-8AB0-8AA7-423324E8EDCA}"/>
                    </a:ext>
                  </a:extLst>
                </p:cNvPr>
                <p:cNvSpPr txBox="1"/>
                <p:nvPr/>
              </p:nvSpPr>
              <p:spPr>
                <a:xfrm>
                  <a:off x="10225915" y="20692449"/>
                  <a:ext cx="1199787" cy="332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 err="1">
                      <a:latin typeface="TeXGyrePagella" pitchFamily="2" charset="77"/>
                    </a:rPr>
                    <a:t>WikiData</a:t>
                  </a:r>
                  <a:endParaRPr lang="en-GB" sz="1400" b="1" dirty="0">
                    <a:latin typeface="TeXGyrePagella" pitchFamily="2" charset="77"/>
                  </a:endParaRPr>
                </a:p>
              </p:txBody>
            </p:sp>
          </p:grp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FC10618D-DCBB-E8DC-97FD-4F0C0B3B2B7B}"/>
                  </a:ext>
                </a:extLst>
              </p:cNvPr>
              <p:cNvSpPr txBox="1"/>
              <p:nvPr/>
            </p:nvSpPr>
            <p:spPr>
              <a:xfrm>
                <a:off x="7949147" y="29822269"/>
                <a:ext cx="7232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TeXGyrePagella" pitchFamily="2" charset="77"/>
                  </a:rPr>
                  <a:t>Music</a:t>
                </a:r>
              </a:p>
              <a:p>
                <a:pPr algn="ctr"/>
                <a:r>
                  <a:rPr lang="en-GB" sz="1400" b="1" dirty="0" err="1">
                    <a:latin typeface="TeXGyrePagella" pitchFamily="2" charset="77"/>
                  </a:rPr>
                  <a:t>Brainz</a:t>
                </a:r>
                <a:endParaRPr lang="en-GB" sz="1400" b="1" dirty="0">
                  <a:latin typeface="TeXGyrePagella" pitchFamily="2" charset="77"/>
                </a:endParaRPr>
              </a:p>
            </p:txBody>
          </p:sp>
          <p:sp>
            <p:nvSpPr>
              <p:cNvPr id="436" name="Can 435">
                <a:extLst>
                  <a:ext uri="{FF2B5EF4-FFF2-40B4-BE49-F238E27FC236}">
                    <a16:creationId xmlns:a16="http://schemas.microsoft.com/office/drawing/2014/main" id="{9763FD6D-A6DF-F82E-4039-0F8457AE8F41}"/>
                  </a:ext>
                </a:extLst>
              </p:cNvPr>
              <p:cNvSpPr/>
              <p:nvPr/>
            </p:nvSpPr>
            <p:spPr>
              <a:xfrm>
                <a:off x="9420844" y="27537818"/>
                <a:ext cx="512422" cy="581388"/>
              </a:xfrm>
              <a:prstGeom prst="can">
                <a:avLst/>
              </a:prstGeom>
              <a:solidFill>
                <a:srgbClr val="C3F3F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42" name="Rounded Rectangle 441">
                <a:extLst>
                  <a:ext uri="{FF2B5EF4-FFF2-40B4-BE49-F238E27FC236}">
                    <a16:creationId xmlns:a16="http://schemas.microsoft.com/office/drawing/2014/main" id="{6D761609-EF6A-C791-DFD1-C585C34D2C8E}"/>
                  </a:ext>
                </a:extLst>
              </p:cNvPr>
              <p:cNvSpPr/>
              <p:nvPr/>
            </p:nvSpPr>
            <p:spPr>
              <a:xfrm>
                <a:off x="7831484" y="27343023"/>
                <a:ext cx="968544" cy="3002462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BE69A0CF-28D1-00FA-D20B-AD0F6D201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2336" y="28632295"/>
                <a:ext cx="421200" cy="0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CA07FB57-A987-7579-BD69-D4B60BE5D8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99836" y="27816340"/>
                <a:ext cx="421200" cy="0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7" name="Can 446">
                <a:extLst>
                  <a:ext uri="{FF2B5EF4-FFF2-40B4-BE49-F238E27FC236}">
                    <a16:creationId xmlns:a16="http://schemas.microsoft.com/office/drawing/2014/main" id="{90E328DF-38CF-A0FE-00D6-9A0652CA8F2A}"/>
                  </a:ext>
                </a:extLst>
              </p:cNvPr>
              <p:cNvSpPr/>
              <p:nvPr/>
            </p:nvSpPr>
            <p:spPr>
              <a:xfrm>
                <a:off x="9420844" y="28369739"/>
                <a:ext cx="512422" cy="581388"/>
              </a:xfrm>
              <a:prstGeom prst="can">
                <a:avLst/>
              </a:prstGeom>
              <a:solidFill>
                <a:srgbClr val="D9FFD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B9B75C43-D7CF-4D77-41D2-5FE49AA6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7136" y="28632295"/>
                <a:ext cx="421200" cy="0"/>
              </a:xfrm>
              <a:prstGeom prst="lin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7FD8E4E-876D-14F3-980F-4B2896E51C34}"/>
                  </a:ext>
                </a:extLst>
              </p:cNvPr>
              <p:cNvSpPr txBox="1"/>
              <p:nvPr/>
            </p:nvSpPr>
            <p:spPr>
              <a:xfrm>
                <a:off x="8882106" y="29626707"/>
                <a:ext cx="155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>
                    <a:latin typeface="TeXGyrePagella" pitchFamily="2" charset="77"/>
                  </a:rPr>
                  <a:t>Metadata</a:t>
                </a:r>
              </a:p>
              <a:p>
                <a:r>
                  <a:rPr lang="en-GB" i="1" dirty="0">
                    <a:latin typeface="TeXGyrePagella" pitchFamily="2" charset="77"/>
                  </a:rPr>
                  <a:t>   ‘backbone’</a:t>
                </a:r>
              </a:p>
            </p:txBody>
          </p:sp>
        </p:grp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3443D0B6-1D7B-6B71-7282-2754E28DE77E}"/>
                </a:ext>
              </a:extLst>
            </p:cNvPr>
            <p:cNvSpPr txBox="1"/>
            <p:nvPr/>
          </p:nvSpPr>
          <p:spPr>
            <a:xfrm>
              <a:off x="627702" y="25625867"/>
              <a:ext cx="540968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GB" sz="3600" b="1" dirty="0">
                  <a:latin typeface="TeXGyrePagella" pitchFamily="2" charset="77"/>
                </a:rPr>
                <a:t>Metadata backbone: </a:t>
              </a:r>
              <a:r>
                <a:rPr lang="en-GB" sz="3600" dirty="0">
                  <a:latin typeface="TeXGyrePagella" pitchFamily="2" charset="77"/>
                </a:rPr>
                <a:t>attempt to find a more complete matching by routing through </a:t>
              </a:r>
              <a:r>
                <a:rPr lang="en-GB" sz="3600" i="1" dirty="0">
                  <a:latin typeface="TeXGyrePagella" pitchFamily="2" charset="77"/>
                </a:rPr>
                <a:t>any</a:t>
              </a:r>
              <a:r>
                <a:rPr lang="en-GB" sz="3600" dirty="0">
                  <a:latin typeface="TeXGyrePagella" pitchFamily="2" charset="77"/>
                </a:rPr>
                <a:t> of several ‘backbone’</a:t>
              </a:r>
            </a:p>
          </p:txBody>
        </p:sp>
        <p:cxnSp>
          <p:nvCxnSpPr>
            <p:cNvPr id="454" name="Straight Arrow Connector 453">
              <a:extLst>
                <a:ext uri="{FF2B5EF4-FFF2-40B4-BE49-F238E27FC236}">
                  <a16:creationId xmlns:a16="http://schemas.microsoft.com/office/drawing/2014/main" id="{3C21A333-F961-05D9-66C7-354206046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2841" y="26929033"/>
              <a:ext cx="0" cy="486638"/>
            </a:xfrm>
            <a:prstGeom prst="straightConnector1">
              <a:avLst/>
            </a:prstGeom>
            <a:ln w="28575">
              <a:prstDash val="dash"/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6" name="Arc 455">
              <a:extLst>
                <a:ext uri="{FF2B5EF4-FFF2-40B4-BE49-F238E27FC236}">
                  <a16:creationId xmlns:a16="http://schemas.microsoft.com/office/drawing/2014/main" id="{B554716E-F7D9-CC47-1EA9-0DBA11DC8F75}"/>
                </a:ext>
              </a:extLst>
            </p:cNvPr>
            <p:cNvSpPr/>
            <p:nvPr/>
          </p:nvSpPr>
          <p:spPr>
            <a:xfrm>
              <a:off x="8024947" y="27802554"/>
              <a:ext cx="705570" cy="394451"/>
            </a:xfrm>
            <a:prstGeom prst="arc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22EF8A7E-CED8-438C-BC61-BB64411B156F}"/>
                </a:ext>
              </a:extLst>
            </p:cNvPr>
            <p:cNvSpPr txBox="1"/>
            <p:nvPr/>
          </p:nvSpPr>
          <p:spPr>
            <a:xfrm>
              <a:off x="5021837" y="27809452"/>
              <a:ext cx="22782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3600" dirty="0">
                  <a:latin typeface="TeXGyrePagella" pitchFamily="2" charset="77"/>
                </a:rPr>
                <a:t>datasets,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0AB7BC30-F7F7-41A4-974A-A71CB7BAE62A}"/>
                </a:ext>
              </a:extLst>
            </p:cNvPr>
            <p:cNvSpPr txBox="1"/>
            <p:nvPr/>
          </p:nvSpPr>
          <p:spPr>
            <a:xfrm>
              <a:off x="1188408" y="28335155"/>
              <a:ext cx="55967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3600" dirty="0">
                  <a:latin typeface="TeXGyrePagella" pitchFamily="2" charset="77"/>
                </a:rPr>
                <a:t>and by leveraging existing 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9E72BDF7-95AE-0B39-22D3-E417BA341EF2}"/>
                </a:ext>
              </a:extLst>
            </p:cNvPr>
            <p:cNvSpPr txBox="1"/>
            <p:nvPr/>
          </p:nvSpPr>
          <p:spPr>
            <a:xfrm>
              <a:off x="1200414" y="28866452"/>
              <a:ext cx="8329533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3600" dirty="0">
                  <a:latin typeface="TeXGyrePagella" pitchFamily="2" charset="77"/>
                </a:rPr>
                <a:t>links between them as a weak supervision signal. Matching against two target datasets which have such a link (e.g. </a:t>
              </a:r>
              <a:r>
                <a:rPr lang="en-GB" sz="3600" i="1" dirty="0">
                  <a:latin typeface="TeXGyrePagella" pitchFamily="2" charset="77"/>
                </a:rPr>
                <a:t>some</a:t>
              </a:r>
              <a:r>
                <a:rPr lang="en-GB" sz="3600" dirty="0">
                  <a:latin typeface="TeXGyrePagella" pitchFamily="2" charset="77"/>
                </a:rPr>
                <a:t> </a:t>
              </a:r>
              <a:r>
                <a:rPr lang="en-GB" sz="3600" dirty="0" err="1">
                  <a:latin typeface="TeXGyrePagella" pitchFamily="2" charset="77"/>
                </a:rPr>
                <a:t>MusicBrainz</a:t>
              </a:r>
              <a:r>
                <a:rPr lang="en-GB" sz="3600" dirty="0">
                  <a:latin typeface="TeXGyrePagella" pitchFamily="2" charset="77"/>
                </a:rPr>
                <a:t> works link to an IMSLP URL) allows us to assess matching accuracy/consistency.</a:t>
              </a:r>
            </a:p>
          </p:txBody>
        </p:sp>
      </p:grpSp>
      <p:sp>
        <p:nvSpPr>
          <p:cNvPr id="461" name="TextBox 460">
            <a:extLst>
              <a:ext uri="{FF2B5EF4-FFF2-40B4-BE49-F238E27FC236}">
                <a16:creationId xmlns:a16="http://schemas.microsoft.com/office/drawing/2014/main" id="{BB0C1A28-88CD-3F2A-F104-BB3FCE377816}"/>
              </a:ext>
            </a:extLst>
          </p:cNvPr>
          <p:cNvSpPr txBox="1"/>
          <p:nvPr/>
        </p:nvSpPr>
        <p:spPr>
          <a:xfrm>
            <a:off x="611915" y="30551651"/>
            <a:ext cx="889703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b="1" dirty="0">
                <a:latin typeface="TeXGyrePagella" pitchFamily="2" charset="77"/>
              </a:rPr>
              <a:t>Match composers: </a:t>
            </a:r>
            <a:r>
              <a:rPr lang="en-GB" sz="3600" dirty="0">
                <a:latin typeface="TeXGyrePagella" pitchFamily="2" charset="77"/>
              </a:rPr>
              <a:t>for tractability, we first filter candidate works for each graded piece entry using </a:t>
            </a:r>
            <a:r>
              <a:rPr lang="en-GB" sz="3600" i="1" dirty="0">
                <a:latin typeface="TeXGyrePagella" pitchFamily="2" charset="77"/>
              </a:rPr>
              <a:t>other</a:t>
            </a:r>
            <a:r>
              <a:rPr lang="en-GB" sz="3600" dirty="0">
                <a:latin typeface="TeXGyrePagella" pitchFamily="2" charset="77"/>
              </a:rPr>
              <a:t> entities which are easier to reconcile (e.g. composers).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b="1" dirty="0">
                <a:latin typeface="TeXGyrePagella" pitchFamily="2" charset="77"/>
              </a:rPr>
              <a:t>LLM-based entity recognition: </a:t>
            </a:r>
            <a:r>
              <a:rPr lang="en-GB" sz="3600" dirty="0">
                <a:latin typeface="TeXGyrePagella" pitchFamily="2" charset="77"/>
              </a:rPr>
              <a:t>ask the LLM to classify (query, candidate) pairs as ‘match’, ‘no match’, or ‘piece A is a part of piece B’ (or vice versa).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b="1" dirty="0">
                <a:latin typeface="TeXGyrePagella" pitchFamily="2" charset="77"/>
              </a:rPr>
              <a:t>Evaluation dataset:</a:t>
            </a:r>
            <a:r>
              <a:rPr lang="en-GB" sz="3600" dirty="0">
                <a:latin typeface="TeXGyrePagella" pitchFamily="2" charset="77"/>
              </a:rPr>
              <a:t> to assess LLM accuracy, we manually label 447 graded pieces with their closest match in </a:t>
            </a:r>
            <a:r>
              <a:rPr lang="en-GB" sz="3600" dirty="0" err="1">
                <a:latin typeface="TeXGyrePagella" pitchFamily="2" charset="77"/>
              </a:rPr>
              <a:t>MusicBrainz</a:t>
            </a:r>
            <a:r>
              <a:rPr lang="en-GB" sz="3600" dirty="0">
                <a:latin typeface="TeXGyrePagella" pitchFamily="2" charset="77"/>
              </a:rPr>
              <a:t>, where available.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D73182C8-DB84-30CC-C024-62E4E731F2B1}"/>
              </a:ext>
            </a:extLst>
          </p:cNvPr>
          <p:cNvSpPr txBox="1"/>
          <p:nvPr/>
        </p:nvSpPr>
        <p:spPr>
          <a:xfrm>
            <a:off x="10027605" y="24138219"/>
            <a:ext cx="615553" cy="13891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800" b="1" dirty="0">
                <a:solidFill>
                  <a:srgbClr val="68236E"/>
                </a:solidFill>
                <a:latin typeface="TeXGyrePagella" pitchFamily="2" charset="77"/>
              </a:rPr>
              <a:t>QUERY</a:t>
            </a:r>
          </a:p>
        </p:txBody>
      </p:sp>
      <p:sp>
        <p:nvSpPr>
          <p:cNvPr id="474" name="Rounded Rectangle 473">
            <a:extLst>
              <a:ext uri="{FF2B5EF4-FFF2-40B4-BE49-F238E27FC236}">
                <a16:creationId xmlns:a16="http://schemas.microsoft.com/office/drawing/2014/main" id="{C9995395-FEA0-670F-6175-306B4FFECA80}"/>
              </a:ext>
            </a:extLst>
          </p:cNvPr>
          <p:cNvSpPr/>
          <p:nvPr/>
        </p:nvSpPr>
        <p:spPr>
          <a:xfrm>
            <a:off x="10004726" y="22769510"/>
            <a:ext cx="19476000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Matching Pipeline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7F01794E-3C31-F006-7CE8-78DD84ADDE49}"/>
              </a:ext>
            </a:extLst>
          </p:cNvPr>
          <p:cNvSpPr txBox="1"/>
          <p:nvPr/>
        </p:nvSpPr>
        <p:spPr>
          <a:xfrm>
            <a:off x="10028314" y="26269078"/>
            <a:ext cx="615553" cy="1628010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800" b="1" dirty="0">
                <a:solidFill>
                  <a:srgbClr val="68236E"/>
                </a:solidFill>
                <a:latin typeface="TeXGyrePagella" pitchFamily="2" charset="77"/>
              </a:rPr>
              <a:t>TARGET</a:t>
            </a:r>
          </a:p>
        </p:txBody>
      </p:sp>
      <p:graphicFrame>
        <p:nvGraphicFramePr>
          <p:cNvPr id="485" name="Table 484">
            <a:extLst>
              <a:ext uri="{FF2B5EF4-FFF2-40B4-BE49-F238E27FC236}">
                <a16:creationId xmlns:a16="http://schemas.microsoft.com/office/drawing/2014/main" id="{35086E3D-DC0E-71E4-DA0E-BF4557191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05640"/>
              </p:ext>
            </p:extLst>
          </p:nvPr>
        </p:nvGraphicFramePr>
        <p:xfrm>
          <a:off x="16398968" y="24648279"/>
          <a:ext cx="315888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9564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1559324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189985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eXGyrePagella" pitchFamily="2" charset="77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latin typeface="TeXGyrePagella" pitchFamily="2" charset="77"/>
                        </a:rPr>
                        <a:t>Chaconne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Composer ID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latin typeface="TeXGyrePagella" pitchFamily="2" charset="77"/>
                        </a:rPr>
                        <a:t>Q7302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</a:tbl>
          </a:graphicData>
        </a:graphic>
      </p:graphicFrame>
      <p:sp>
        <p:nvSpPr>
          <p:cNvPr id="489" name="TextBox 488">
            <a:extLst>
              <a:ext uri="{FF2B5EF4-FFF2-40B4-BE49-F238E27FC236}">
                <a16:creationId xmlns:a16="http://schemas.microsoft.com/office/drawing/2014/main" id="{3624BAC0-B35B-8975-60BE-518D5A003266}"/>
              </a:ext>
            </a:extLst>
          </p:cNvPr>
          <p:cNvSpPr txBox="1"/>
          <p:nvPr/>
        </p:nvSpPr>
        <p:spPr>
          <a:xfrm>
            <a:off x="15628118" y="27420431"/>
            <a:ext cx="4889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>
                <a:solidFill>
                  <a:srgbClr val="68236E"/>
                </a:solidFill>
                <a:latin typeface="TeXGyrePagella" pitchFamily="2" charset="77"/>
              </a:rPr>
              <a:t>Only works with matching entity IDs (e.g. same composer)</a:t>
            </a:r>
          </a:p>
        </p:txBody>
      </p:sp>
      <p:graphicFrame>
        <p:nvGraphicFramePr>
          <p:cNvPr id="491" name="Table 490">
            <a:extLst>
              <a:ext uri="{FF2B5EF4-FFF2-40B4-BE49-F238E27FC236}">
                <a16:creationId xmlns:a16="http://schemas.microsoft.com/office/drawing/2014/main" id="{A5FA562B-D1FB-071C-B832-5BE34BB3E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871959"/>
              </p:ext>
            </p:extLst>
          </p:nvPr>
        </p:nvGraphicFramePr>
        <p:xfrm>
          <a:off x="21409841" y="25958029"/>
          <a:ext cx="393317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3170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eXGyrePagella" pitchFamily="2" charset="77"/>
                        </a:rPr>
                        <a:t>Handel -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Chaconne in F major, HWV 485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Handel - Suite in G minor, HWV 432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Handel – </a:t>
                      </a:r>
                      <a:r>
                        <a:rPr lang="en-GB" sz="1800" kern="1200" dirty="0" err="1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Admeto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, HWV 22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755158"/>
                  </a:ext>
                </a:extLst>
              </a:tr>
            </a:tbl>
          </a:graphicData>
        </a:graphic>
      </p:graphicFrame>
      <p:sp>
        <p:nvSpPr>
          <p:cNvPr id="492" name="Round Same-side Corner of Rectangle 491">
            <a:extLst>
              <a:ext uri="{FF2B5EF4-FFF2-40B4-BE49-F238E27FC236}">
                <a16:creationId xmlns:a16="http://schemas.microsoft.com/office/drawing/2014/main" id="{917EF9CE-2C97-64E4-D505-339812F3ACD4}"/>
              </a:ext>
            </a:extLst>
          </p:cNvPr>
          <p:cNvSpPr/>
          <p:nvPr/>
        </p:nvSpPr>
        <p:spPr>
          <a:xfrm>
            <a:off x="21409310" y="25604732"/>
            <a:ext cx="3933702" cy="353294"/>
          </a:xfrm>
          <a:prstGeom prst="round2SameRect">
            <a:avLst/>
          </a:prstGeom>
          <a:solidFill>
            <a:srgbClr val="C3F3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Candidate Works</a:t>
            </a:r>
          </a:p>
        </p:txBody>
      </p:sp>
      <p:sp>
        <p:nvSpPr>
          <p:cNvPr id="494" name="Rounded Rectangle 493">
            <a:extLst>
              <a:ext uri="{FF2B5EF4-FFF2-40B4-BE49-F238E27FC236}">
                <a16:creationId xmlns:a16="http://schemas.microsoft.com/office/drawing/2014/main" id="{FCF663B8-CC9C-C68D-F954-75E6D8AF6E14}"/>
              </a:ext>
            </a:extLst>
          </p:cNvPr>
          <p:cNvSpPr/>
          <p:nvPr/>
        </p:nvSpPr>
        <p:spPr>
          <a:xfrm>
            <a:off x="27106673" y="23917407"/>
            <a:ext cx="491308" cy="4264399"/>
          </a:xfrm>
          <a:prstGeom prst="roundRect">
            <a:avLst/>
          </a:prstGeom>
          <a:noFill/>
          <a:ln w="28575">
            <a:solidFill>
              <a:srgbClr val="682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2800" b="1" i="1" dirty="0">
                <a:solidFill>
                  <a:srgbClr val="68236E"/>
                </a:solidFill>
                <a:latin typeface="CMU BRIGHT OBLIQUE" panose="02000603000000000000" pitchFamily="2" charset="0"/>
                <a:ea typeface="CMU BRIGHT OBLIQUE" panose="02000603000000000000" pitchFamily="2" charset="0"/>
                <a:cs typeface="CMU BRIGHT OBLIQUE" panose="02000603000000000000" pitchFamily="2" charset="0"/>
              </a:rPr>
              <a:t>LLM</a:t>
            </a:r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86FFF527-9668-A6A0-2A1C-9263996635FE}"/>
              </a:ext>
            </a:extLst>
          </p:cNvPr>
          <p:cNvGrpSpPr/>
          <p:nvPr/>
        </p:nvGrpSpPr>
        <p:grpSpPr>
          <a:xfrm>
            <a:off x="25839187" y="24608814"/>
            <a:ext cx="741331" cy="519976"/>
            <a:chOff x="22449263" y="23153123"/>
            <a:chExt cx="569815" cy="399673"/>
          </a:xfrm>
        </p:grpSpPr>
        <p:sp>
          <p:nvSpPr>
            <p:cNvPr id="517" name="Rounded Rectangular Callout 516">
              <a:extLst>
                <a:ext uri="{FF2B5EF4-FFF2-40B4-BE49-F238E27FC236}">
                  <a16:creationId xmlns:a16="http://schemas.microsoft.com/office/drawing/2014/main" id="{E421401B-08A5-843C-7C5F-38E07A5DC753}"/>
                </a:ext>
              </a:extLst>
            </p:cNvPr>
            <p:cNvSpPr/>
            <p:nvPr/>
          </p:nvSpPr>
          <p:spPr>
            <a:xfrm>
              <a:off x="22449263" y="23153123"/>
              <a:ext cx="569815" cy="399673"/>
            </a:xfrm>
            <a:prstGeom prst="wedgeRoundRectCallout">
              <a:avLst>
                <a:gd name="adj1" fmla="val -22472"/>
                <a:gd name="adj2" fmla="val 82074"/>
                <a:gd name="adj3" fmla="val 16667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TeXGyrePagella" pitchFamily="2" charset="77"/>
              </a:endParaRPr>
            </a:p>
          </p:txBody>
        </p: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9103F362-AF9D-C885-11D1-CEA5214B5737}"/>
                </a:ext>
              </a:extLst>
            </p:cNvPr>
            <p:cNvCxnSpPr/>
            <p:nvPr/>
          </p:nvCxnSpPr>
          <p:spPr>
            <a:xfrm>
              <a:off x="22527430" y="23260695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0E1E25EB-131C-27F0-7EB4-B129EF2C5D0B}"/>
                </a:ext>
              </a:extLst>
            </p:cNvPr>
            <p:cNvCxnSpPr>
              <a:cxnSpLocks/>
            </p:cNvCxnSpPr>
            <p:nvPr/>
          </p:nvCxnSpPr>
          <p:spPr>
            <a:xfrm>
              <a:off x="22695089" y="23260695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0EAEA860-E131-79A8-31D8-672892C62534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27370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E85AEBA0-1370-93E4-BA4F-B0DB6B666069}"/>
                </a:ext>
              </a:extLst>
            </p:cNvPr>
            <p:cNvCxnSpPr/>
            <p:nvPr/>
          </p:nvCxnSpPr>
          <p:spPr>
            <a:xfrm>
              <a:off x="22800291" y="23327370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60AE58C8-E150-FF6C-3D1A-BBC74C528055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90870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54DBB67C-2FB2-FC28-8AB4-F19849AB2CF6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457545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41A2FA0-72C0-A2DC-C0CC-64F0E5307896}"/>
              </a:ext>
            </a:extLst>
          </p:cNvPr>
          <p:cNvGrpSpPr/>
          <p:nvPr/>
        </p:nvGrpSpPr>
        <p:grpSpPr>
          <a:xfrm>
            <a:off x="25839187" y="25668078"/>
            <a:ext cx="741331" cy="519976"/>
            <a:chOff x="22449263" y="23153123"/>
            <a:chExt cx="569815" cy="399673"/>
          </a:xfrm>
        </p:grpSpPr>
        <p:sp>
          <p:nvSpPr>
            <p:cNvPr id="529" name="Rounded Rectangular Callout 528">
              <a:extLst>
                <a:ext uri="{FF2B5EF4-FFF2-40B4-BE49-F238E27FC236}">
                  <a16:creationId xmlns:a16="http://schemas.microsoft.com/office/drawing/2014/main" id="{DB2ED31E-887C-83B1-DA3C-286866EABA71}"/>
                </a:ext>
              </a:extLst>
            </p:cNvPr>
            <p:cNvSpPr/>
            <p:nvPr/>
          </p:nvSpPr>
          <p:spPr>
            <a:xfrm>
              <a:off x="22449263" y="23153123"/>
              <a:ext cx="569815" cy="399673"/>
            </a:xfrm>
            <a:prstGeom prst="wedgeRoundRectCallout">
              <a:avLst>
                <a:gd name="adj1" fmla="val -22472"/>
                <a:gd name="adj2" fmla="val 82074"/>
                <a:gd name="adj3" fmla="val 16667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TeXGyrePagella" pitchFamily="2" charset="77"/>
              </a:endParaRPr>
            </a:p>
          </p:txBody>
        </p: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A56A0A50-6790-B139-AA23-DBB9408C1C3A}"/>
                </a:ext>
              </a:extLst>
            </p:cNvPr>
            <p:cNvCxnSpPr/>
            <p:nvPr/>
          </p:nvCxnSpPr>
          <p:spPr>
            <a:xfrm>
              <a:off x="22527430" y="23260695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4ACB173D-504A-9D05-99BE-F56AF981E792}"/>
                </a:ext>
              </a:extLst>
            </p:cNvPr>
            <p:cNvCxnSpPr>
              <a:cxnSpLocks/>
            </p:cNvCxnSpPr>
            <p:nvPr/>
          </p:nvCxnSpPr>
          <p:spPr>
            <a:xfrm>
              <a:off x="22695089" y="23260695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3E766B16-7FBC-DE76-472D-BDD9AD0ABC83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27370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8BB3FCC6-F6F4-A2B0-0324-73FF07D7D1A1}"/>
                </a:ext>
              </a:extLst>
            </p:cNvPr>
            <p:cNvCxnSpPr/>
            <p:nvPr/>
          </p:nvCxnSpPr>
          <p:spPr>
            <a:xfrm>
              <a:off x="22800291" y="23327370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FDA5015E-D398-2ED0-7510-2BB929B6C4CF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90870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394DE82E-239A-B3D4-25E9-330B44DBBCD2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457545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0F50A655-EAE7-B191-6B1D-EBE51EAF8B92}"/>
              </a:ext>
            </a:extLst>
          </p:cNvPr>
          <p:cNvGrpSpPr/>
          <p:nvPr/>
        </p:nvGrpSpPr>
        <p:grpSpPr>
          <a:xfrm>
            <a:off x="25835059" y="26665348"/>
            <a:ext cx="741331" cy="519976"/>
            <a:chOff x="22449263" y="23153123"/>
            <a:chExt cx="569815" cy="399673"/>
          </a:xfrm>
        </p:grpSpPr>
        <p:sp>
          <p:nvSpPr>
            <p:cNvPr id="537" name="Rounded Rectangular Callout 536">
              <a:extLst>
                <a:ext uri="{FF2B5EF4-FFF2-40B4-BE49-F238E27FC236}">
                  <a16:creationId xmlns:a16="http://schemas.microsoft.com/office/drawing/2014/main" id="{015F9F22-09C5-1145-8999-18BDEBE0D7EB}"/>
                </a:ext>
              </a:extLst>
            </p:cNvPr>
            <p:cNvSpPr/>
            <p:nvPr/>
          </p:nvSpPr>
          <p:spPr>
            <a:xfrm>
              <a:off x="22449263" y="23153123"/>
              <a:ext cx="569815" cy="399673"/>
            </a:xfrm>
            <a:prstGeom prst="wedgeRoundRectCallout">
              <a:avLst>
                <a:gd name="adj1" fmla="val -22472"/>
                <a:gd name="adj2" fmla="val 82074"/>
                <a:gd name="adj3" fmla="val 16667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TeXGyrePagella" pitchFamily="2" charset="77"/>
              </a:endParaRPr>
            </a:p>
          </p:txBody>
        </p: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2290E88E-816C-9F18-408A-2F610E322DA5}"/>
                </a:ext>
              </a:extLst>
            </p:cNvPr>
            <p:cNvCxnSpPr/>
            <p:nvPr/>
          </p:nvCxnSpPr>
          <p:spPr>
            <a:xfrm>
              <a:off x="22527430" y="23260695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CE353056-5DDF-25A1-DC0D-0EAD23033D4A}"/>
                </a:ext>
              </a:extLst>
            </p:cNvPr>
            <p:cNvCxnSpPr>
              <a:cxnSpLocks/>
            </p:cNvCxnSpPr>
            <p:nvPr/>
          </p:nvCxnSpPr>
          <p:spPr>
            <a:xfrm>
              <a:off x="22695089" y="23260695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7ECC5339-5D85-BF04-254B-293296535777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27370"/>
              <a:ext cx="237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7B98A894-D9D1-3006-FBED-FEC555E67F05}"/>
                </a:ext>
              </a:extLst>
            </p:cNvPr>
            <p:cNvCxnSpPr/>
            <p:nvPr/>
          </p:nvCxnSpPr>
          <p:spPr>
            <a:xfrm>
              <a:off x="22800291" y="23327370"/>
              <a:ext cx="1327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67020C7A-D4C9-BE14-AE06-A4DE5339FF13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390870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FCF8AB28-79E3-2125-651F-D2375A29CDC5}"/>
                </a:ext>
              </a:extLst>
            </p:cNvPr>
            <p:cNvCxnSpPr>
              <a:cxnSpLocks/>
            </p:cNvCxnSpPr>
            <p:nvPr/>
          </p:nvCxnSpPr>
          <p:spPr>
            <a:xfrm>
              <a:off x="22527430" y="23457545"/>
              <a:ext cx="405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6" name="Straight Arrow Connector 555">
            <a:extLst>
              <a:ext uri="{FF2B5EF4-FFF2-40B4-BE49-F238E27FC236}">
                <a16:creationId xmlns:a16="http://schemas.microsoft.com/office/drawing/2014/main" id="{E7DB517F-4435-E847-6062-9066BB216F1D}"/>
              </a:ext>
            </a:extLst>
          </p:cNvPr>
          <p:cNvCxnSpPr>
            <a:cxnSpLocks/>
          </p:cNvCxnSpPr>
          <p:nvPr/>
        </p:nvCxnSpPr>
        <p:spPr>
          <a:xfrm>
            <a:off x="26745495" y="24840035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FB9EBFB5-23C9-175B-91DF-30F3C33DD1EF}"/>
              </a:ext>
            </a:extLst>
          </p:cNvPr>
          <p:cNvCxnSpPr>
            <a:cxnSpLocks/>
          </p:cNvCxnSpPr>
          <p:nvPr/>
        </p:nvCxnSpPr>
        <p:spPr>
          <a:xfrm>
            <a:off x="26744964" y="25929036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EFE54067-A0EC-E78E-D1D4-B2DB12D36267}"/>
              </a:ext>
            </a:extLst>
          </p:cNvPr>
          <p:cNvCxnSpPr>
            <a:cxnSpLocks/>
          </p:cNvCxnSpPr>
          <p:nvPr/>
        </p:nvCxnSpPr>
        <p:spPr>
          <a:xfrm>
            <a:off x="26738675" y="27089819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49AC6D3-8CF2-E37B-1C6B-719F946442A1}"/>
              </a:ext>
            </a:extLst>
          </p:cNvPr>
          <p:cNvCxnSpPr>
            <a:cxnSpLocks/>
          </p:cNvCxnSpPr>
          <p:nvPr/>
        </p:nvCxnSpPr>
        <p:spPr>
          <a:xfrm>
            <a:off x="27597981" y="24832347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1527F944-91C4-7634-FD96-AC1B7602CCB8}"/>
              </a:ext>
            </a:extLst>
          </p:cNvPr>
          <p:cNvCxnSpPr>
            <a:cxnSpLocks/>
          </p:cNvCxnSpPr>
          <p:nvPr/>
        </p:nvCxnSpPr>
        <p:spPr>
          <a:xfrm>
            <a:off x="27597450" y="25921348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DD773529-1FF8-DAF3-7E82-0B475B2D5B44}"/>
              </a:ext>
            </a:extLst>
          </p:cNvPr>
          <p:cNvCxnSpPr>
            <a:cxnSpLocks/>
          </p:cNvCxnSpPr>
          <p:nvPr/>
        </p:nvCxnSpPr>
        <p:spPr>
          <a:xfrm>
            <a:off x="27591161" y="27082131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TextBox 563">
            <a:extLst>
              <a:ext uri="{FF2B5EF4-FFF2-40B4-BE49-F238E27FC236}">
                <a16:creationId xmlns:a16="http://schemas.microsoft.com/office/drawing/2014/main" id="{FF29BCA0-53BA-00F6-028F-9C5FB4E7E342}"/>
              </a:ext>
            </a:extLst>
          </p:cNvPr>
          <p:cNvSpPr txBox="1"/>
          <p:nvPr/>
        </p:nvSpPr>
        <p:spPr>
          <a:xfrm>
            <a:off x="27954962" y="24600709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no match</a:t>
            </a: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0C8DAFEB-56CC-2D7C-0287-1A0F5EA58D97}"/>
              </a:ext>
            </a:extLst>
          </p:cNvPr>
          <p:cNvSpPr txBox="1"/>
          <p:nvPr/>
        </p:nvSpPr>
        <p:spPr>
          <a:xfrm>
            <a:off x="27915566" y="25646262"/>
            <a:ext cx="1673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A is a</a:t>
            </a:r>
          </a:p>
          <a:p>
            <a:pPr algn="ctr"/>
            <a:r>
              <a:rPr lang="en-GB" sz="28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part of B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BBE8CD38-AB8F-ACC4-F3BB-3F39C0989851}"/>
              </a:ext>
            </a:extLst>
          </p:cNvPr>
          <p:cNvSpPr txBox="1"/>
          <p:nvPr/>
        </p:nvSpPr>
        <p:spPr>
          <a:xfrm>
            <a:off x="27961081" y="26761358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no match</a:t>
            </a: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0081737C-525A-BB01-8581-1A6E705703F2}"/>
              </a:ext>
            </a:extLst>
          </p:cNvPr>
          <p:cNvSpPr txBox="1"/>
          <p:nvPr/>
        </p:nvSpPr>
        <p:spPr>
          <a:xfrm>
            <a:off x="21775902" y="18410553"/>
            <a:ext cx="2760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TeXGyrePagella" pitchFamily="2" charset="77"/>
                <a:ea typeface="CMU Concrete Roman" panose="02000603000000000000" pitchFamily="2" charset="0"/>
                <a:cs typeface="CMU Concrete Roman" panose="02000603000000000000" pitchFamily="2" charset="0"/>
              </a:rPr>
              <a:t>Query: </a:t>
            </a:r>
            <a:r>
              <a:rPr lang="en-GB" sz="20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“Tom </a:t>
            </a:r>
            <a:r>
              <a:rPr lang="en-GB" sz="2000" dirty="0" err="1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Davoren</a:t>
            </a:r>
            <a:r>
              <a:rPr lang="en-GB" sz="20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”</a:t>
            </a:r>
          </a:p>
        </p:txBody>
      </p:sp>
      <p:sp>
        <p:nvSpPr>
          <p:cNvPr id="568" name="Rounded Rectangle 567">
            <a:extLst>
              <a:ext uri="{FF2B5EF4-FFF2-40B4-BE49-F238E27FC236}">
                <a16:creationId xmlns:a16="http://schemas.microsoft.com/office/drawing/2014/main" id="{8D468BD6-CC12-A91B-FEC2-155745628FAA}"/>
              </a:ext>
            </a:extLst>
          </p:cNvPr>
          <p:cNvSpPr/>
          <p:nvPr/>
        </p:nvSpPr>
        <p:spPr>
          <a:xfrm>
            <a:off x="21488324" y="18101687"/>
            <a:ext cx="7992392" cy="4366722"/>
          </a:xfrm>
          <a:prstGeom prst="roundRect">
            <a:avLst>
              <a:gd name="adj" fmla="val 9908"/>
            </a:avLst>
          </a:prstGeom>
          <a:noFill/>
          <a:ln w="28575">
            <a:solidFill>
              <a:srgbClr val="68236E"/>
            </a:solidFill>
            <a:prstDash val="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569" name="Rounded Rectangle 568">
            <a:extLst>
              <a:ext uri="{FF2B5EF4-FFF2-40B4-BE49-F238E27FC236}">
                <a16:creationId xmlns:a16="http://schemas.microsoft.com/office/drawing/2014/main" id="{4428D4EE-10F1-401F-9116-16753DF0880D}"/>
              </a:ext>
            </a:extLst>
          </p:cNvPr>
          <p:cNvSpPr/>
          <p:nvPr/>
        </p:nvSpPr>
        <p:spPr>
          <a:xfrm>
            <a:off x="21817797" y="17733283"/>
            <a:ext cx="4220444" cy="655218"/>
          </a:xfrm>
          <a:prstGeom prst="roundRect">
            <a:avLst>
              <a:gd name="adj" fmla="val 229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i="1" dirty="0">
                <a:solidFill>
                  <a:srgbClr val="68236E"/>
                </a:solidFill>
                <a:latin typeface="TeXGyrePagella" pitchFamily="2" charset="77"/>
              </a:rPr>
              <a:t>Missing entities</a:t>
            </a:r>
          </a:p>
        </p:txBody>
      </p:sp>
      <p:graphicFrame>
        <p:nvGraphicFramePr>
          <p:cNvPr id="570" name="Table 569">
            <a:extLst>
              <a:ext uri="{FF2B5EF4-FFF2-40B4-BE49-F238E27FC236}">
                <a16:creationId xmlns:a16="http://schemas.microsoft.com/office/drawing/2014/main" id="{EB0507B2-A33A-512A-C0BC-C49ECCE95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068201"/>
              </p:ext>
            </p:extLst>
          </p:nvPr>
        </p:nvGraphicFramePr>
        <p:xfrm>
          <a:off x="21813269" y="19930565"/>
          <a:ext cx="204661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6616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</a:tblGrid>
              <a:tr h="393695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latin typeface="TeXGyrePagella" pitchFamily="2" charset="77"/>
                        </a:rPr>
                        <a:t>No entries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</a:tbl>
          </a:graphicData>
        </a:graphic>
      </p:graphicFrame>
      <p:sp>
        <p:nvSpPr>
          <p:cNvPr id="571" name="Round Same-side Corner of Rectangle 570">
            <a:extLst>
              <a:ext uri="{FF2B5EF4-FFF2-40B4-BE49-F238E27FC236}">
                <a16:creationId xmlns:a16="http://schemas.microsoft.com/office/drawing/2014/main" id="{6AAFA153-9181-3B99-EA98-A8F3DAC4CE41}"/>
              </a:ext>
            </a:extLst>
          </p:cNvPr>
          <p:cNvSpPr/>
          <p:nvPr/>
        </p:nvSpPr>
        <p:spPr>
          <a:xfrm>
            <a:off x="21814045" y="19532008"/>
            <a:ext cx="2046616" cy="398557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WikiData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aphicFrame>
        <p:nvGraphicFramePr>
          <p:cNvPr id="572" name="Table 571">
            <a:extLst>
              <a:ext uri="{FF2B5EF4-FFF2-40B4-BE49-F238E27FC236}">
                <a16:creationId xmlns:a16="http://schemas.microsoft.com/office/drawing/2014/main" id="{B83D8CB1-F0E2-5FCF-032B-F2BA32F13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79563"/>
              </p:ext>
            </p:extLst>
          </p:nvPr>
        </p:nvGraphicFramePr>
        <p:xfrm>
          <a:off x="24912118" y="18759052"/>
          <a:ext cx="4220445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380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2371065">
                  <a:extLst>
                    <a:ext uri="{9D8B030D-6E8A-4147-A177-3AD203B41FA5}">
                      <a16:colId xmlns:a16="http://schemas.microsoft.com/office/drawing/2014/main" val="2802424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1" i="0" dirty="0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ID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i="0" dirty="0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Name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d8acb7b0…</a:t>
                      </a:r>
                      <a:endParaRPr lang="en-GB" sz="2400" dirty="0">
                        <a:latin typeface="TeXGyrePagella" pitchFamily="2" charset="77"/>
                        <a:ea typeface="CMU Serif Roman" panose="02000603000000000000" pitchFamily="2" charset="0"/>
                        <a:cs typeface="CMU Serif Roman" panose="02000603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Tom </a:t>
                      </a:r>
                      <a:r>
                        <a:rPr lang="en-GB" sz="2400" dirty="0" err="1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Davoren</a:t>
                      </a:r>
                      <a:endParaRPr lang="en-GB" sz="2400" dirty="0">
                        <a:latin typeface="TeXGyrePagella" pitchFamily="2" charset="77"/>
                        <a:ea typeface="CMU Serif Roman" panose="02000603000000000000" pitchFamily="2" charset="0"/>
                        <a:cs typeface="CMU Serif Roman" panose="02000603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25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527f3f97-7…</a:t>
                      </a:r>
                      <a:endParaRPr lang="en-GB" sz="2400" dirty="0">
                        <a:latin typeface="TeXGyrePagella" pitchFamily="2" charset="77"/>
                        <a:ea typeface="CMU Serif Roman" panose="02000603000000000000" pitchFamily="2" charset="0"/>
                        <a:cs typeface="CMU Serif Roman" panose="02000603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Tony </a:t>
                      </a:r>
                      <a:r>
                        <a:rPr lang="en-GB" sz="2400" dirty="0" err="1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Davoren</a:t>
                      </a:r>
                      <a:endParaRPr lang="en-GB" sz="2400" dirty="0">
                        <a:latin typeface="TeXGyrePagella" pitchFamily="2" charset="77"/>
                        <a:ea typeface="CMU Serif Roman" panose="02000603000000000000" pitchFamily="2" charset="0"/>
                        <a:cs typeface="CMU Serif Roman" panose="02000603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54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57c6f649…</a:t>
                      </a:r>
                      <a:endParaRPr lang="en-GB" sz="2400" dirty="0">
                        <a:latin typeface="TeXGyrePagella" pitchFamily="2" charset="77"/>
                        <a:ea typeface="CMU Serif Roman" panose="02000603000000000000" pitchFamily="2" charset="0"/>
                        <a:cs typeface="CMU Serif Roman" panose="02000603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  <a:ea typeface="CMU Serif Roman" panose="02000603000000000000" pitchFamily="2" charset="0"/>
                          <a:cs typeface="CMU Serif Roman" panose="02000603000000000000" pitchFamily="2" charset="0"/>
                        </a:rPr>
                        <a:t>Tom Jones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48969"/>
                  </a:ext>
                </a:extLst>
              </a:tr>
            </a:tbl>
          </a:graphicData>
        </a:graphic>
      </p:graphicFrame>
      <p:sp>
        <p:nvSpPr>
          <p:cNvPr id="573" name="Round Same-side Corner of Rectangle 572">
            <a:extLst>
              <a:ext uri="{FF2B5EF4-FFF2-40B4-BE49-F238E27FC236}">
                <a16:creationId xmlns:a16="http://schemas.microsoft.com/office/drawing/2014/main" id="{064B3506-9AD7-F3B2-8F3C-EF64E1FDC832}"/>
              </a:ext>
            </a:extLst>
          </p:cNvPr>
          <p:cNvSpPr/>
          <p:nvPr/>
        </p:nvSpPr>
        <p:spPr>
          <a:xfrm>
            <a:off x="24921373" y="18358113"/>
            <a:ext cx="4220444" cy="409517"/>
          </a:xfrm>
          <a:prstGeom prst="round2SameRect">
            <a:avLst/>
          </a:prstGeom>
          <a:solidFill>
            <a:srgbClr val="FFDB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MusicBrainz.Artists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74" name="Arc 573">
            <a:extLst>
              <a:ext uri="{FF2B5EF4-FFF2-40B4-BE49-F238E27FC236}">
                <a16:creationId xmlns:a16="http://schemas.microsoft.com/office/drawing/2014/main" id="{3745775B-3109-2E77-4F58-35AFA24DC1B5}"/>
              </a:ext>
            </a:extLst>
          </p:cNvPr>
          <p:cNvSpPr/>
          <p:nvPr/>
        </p:nvSpPr>
        <p:spPr>
          <a:xfrm rot="3301137">
            <a:off x="23059329" y="18845626"/>
            <a:ext cx="1377170" cy="1303434"/>
          </a:xfrm>
          <a:prstGeom prst="arc">
            <a:avLst>
              <a:gd name="adj1" fmla="val 13546841"/>
              <a:gd name="adj2" fmla="val 700684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5" name="Arc 574">
            <a:extLst>
              <a:ext uri="{FF2B5EF4-FFF2-40B4-BE49-F238E27FC236}">
                <a16:creationId xmlns:a16="http://schemas.microsoft.com/office/drawing/2014/main" id="{F8948799-D7CF-8E2B-76FB-07AC1D311611}"/>
              </a:ext>
            </a:extLst>
          </p:cNvPr>
          <p:cNvSpPr/>
          <p:nvPr/>
        </p:nvSpPr>
        <p:spPr>
          <a:xfrm rot="223517">
            <a:off x="22878454" y="18809101"/>
            <a:ext cx="1974049" cy="1170892"/>
          </a:xfrm>
          <a:prstGeom prst="arc">
            <a:avLst>
              <a:gd name="adj1" fmla="val 16505985"/>
              <a:gd name="adj2" fmla="val 2104926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A0326DBB-C7DE-44C3-7A68-A398958391DC}"/>
              </a:ext>
            </a:extLst>
          </p:cNvPr>
          <p:cNvSpPr txBox="1"/>
          <p:nvPr/>
        </p:nvSpPr>
        <p:spPr>
          <a:xfrm>
            <a:off x="21542736" y="20997403"/>
            <a:ext cx="7896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effectLst/>
                <a:latin typeface="TeXGyrePagella" pitchFamily="2" charset="77"/>
              </a:rPr>
              <a:t>Many musical works, and even artists, have no </a:t>
            </a:r>
            <a:r>
              <a:rPr lang="en-GB" sz="2800" dirty="0" err="1">
                <a:solidFill>
                  <a:srgbClr val="000000"/>
                </a:solidFill>
                <a:effectLst/>
                <a:latin typeface="TeXGyrePagella" pitchFamily="2" charset="77"/>
              </a:rPr>
              <a:t>WikiData</a:t>
            </a:r>
            <a:r>
              <a:rPr lang="en-GB" sz="2800" dirty="0">
                <a:solidFill>
                  <a:srgbClr val="000000"/>
                </a:solidFill>
                <a:effectLst/>
                <a:latin typeface="TeXGyrePagella" pitchFamily="2" charset="77"/>
              </a:rPr>
              <a:t> entry;</a:t>
            </a:r>
            <a:r>
              <a:rPr lang="en-GB" sz="2800" dirty="0">
                <a:solidFill>
                  <a:srgbClr val="000000"/>
                </a:solidFill>
                <a:latin typeface="TeXGyrePagella" pitchFamily="2" charset="77"/>
              </a:rPr>
              <a:t> </a:t>
            </a:r>
            <a:r>
              <a:rPr lang="en-GB" sz="2800" b="1" dirty="0">
                <a:solidFill>
                  <a:srgbClr val="000000"/>
                </a:solidFill>
                <a:latin typeface="TeXGyrePagella" pitchFamily="2" charset="77"/>
              </a:rPr>
              <a:t>no single ‘backbone’ dataset covers all entities </a:t>
            </a:r>
            <a:r>
              <a:rPr lang="en-GB" sz="2800" dirty="0">
                <a:solidFill>
                  <a:srgbClr val="000000"/>
                </a:solidFill>
                <a:latin typeface="TeXGyrePagella" pitchFamily="2" charset="77"/>
              </a:rPr>
              <a:t>one might wish to link.</a:t>
            </a:r>
            <a:endParaRPr lang="en-GB" sz="2800" dirty="0">
              <a:solidFill>
                <a:srgbClr val="000000"/>
              </a:solidFill>
              <a:effectLst/>
              <a:latin typeface="TeXGyrePagella" pitchFamily="2" charset="77"/>
            </a:endParaRP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874D7791-62E5-DE8A-85A5-84F200C5EAA3}"/>
              </a:ext>
            </a:extLst>
          </p:cNvPr>
          <p:cNvSpPr/>
          <p:nvPr/>
        </p:nvSpPr>
        <p:spPr>
          <a:xfrm>
            <a:off x="16480985" y="13142166"/>
            <a:ext cx="12999730" cy="4459306"/>
          </a:xfrm>
          <a:prstGeom prst="roundRect">
            <a:avLst>
              <a:gd name="adj" fmla="val 9908"/>
            </a:avLst>
          </a:prstGeom>
          <a:noFill/>
          <a:ln w="28575">
            <a:solidFill>
              <a:srgbClr val="68236E"/>
            </a:solidFill>
            <a:prstDash val="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2E546D3C-0017-F062-783D-516B0D8F4891}"/>
              </a:ext>
            </a:extLst>
          </p:cNvPr>
          <p:cNvSpPr/>
          <p:nvPr/>
        </p:nvSpPr>
        <p:spPr>
          <a:xfrm>
            <a:off x="16902791" y="12669737"/>
            <a:ext cx="3841847" cy="776573"/>
          </a:xfrm>
          <a:prstGeom prst="roundRect">
            <a:avLst>
              <a:gd name="adj" fmla="val 229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i="1" dirty="0">
                <a:solidFill>
                  <a:srgbClr val="68236E"/>
                </a:solidFill>
                <a:latin typeface="TeXGyrePagella" pitchFamily="2" charset="77"/>
              </a:rPr>
              <a:t>Alternative titles</a:t>
            </a:r>
          </a:p>
        </p:txBody>
      </p:sp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3E07D397-A4D4-F523-347C-F520B5F2A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595550"/>
              </p:ext>
            </p:extLst>
          </p:nvPr>
        </p:nvGraphicFramePr>
        <p:xfrm>
          <a:off x="16851185" y="14083899"/>
          <a:ext cx="564293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3852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3849082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TeXGyrePagella" pitchFamily="2" charset="77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TeXGyrePagella" pitchFamily="2" charset="77"/>
                        </a:rPr>
                        <a:t>Chaconne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Composer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Handel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Book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i="1" dirty="0">
                          <a:latin typeface="TeXGyrePagella" pitchFamily="2" charset="77"/>
                        </a:rPr>
                        <a:t>Classics to Moderns</a:t>
                      </a:r>
                      <a:r>
                        <a:rPr lang="en-GB" sz="2400" dirty="0">
                          <a:latin typeface="TeXGyrePagella" pitchFamily="2" charset="77"/>
                        </a:rPr>
                        <a:t>, Book 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Difficulty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eXGyrePagella" pitchFamily="2" charset="77"/>
                        </a:rPr>
                        <a:t>MTB, Grade 4, Piano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05777"/>
                  </a:ext>
                </a:extLst>
              </a:tr>
            </a:tbl>
          </a:graphicData>
        </a:graphic>
      </p:graphicFrame>
      <p:sp>
        <p:nvSpPr>
          <p:cNvPr id="145" name="Round Same-side Corner of Rectangle 144">
            <a:extLst>
              <a:ext uri="{FF2B5EF4-FFF2-40B4-BE49-F238E27FC236}">
                <a16:creationId xmlns:a16="http://schemas.microsoft.com/office/drawing/2014/main" id="{E8B4576F-C9F1-A2F8-B64F-BCACCBB00E93}"/>
              </a:ext>
            </a:extLst>
          </p:cNvPr>
          <p:cNvSpPr/>
          <p:nvPr/>
        </p:nvSpPr>
        <p:spPr>
          <a:xfrm>
            <a:off x="16851185" y="13674379"/>
            <a:ext cx="5642934" cy="409517"/>
          </a:xfrm>
          <a:prstGeom prst="round2SameRect">
            <a:avLst/>
          </a:prstGeom>
          <a:solidFill>
            <a:srgbClr val="EBE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Graded Pieces</a:t>
            </a:r>
            <a:endParaRPr lang="en-GB" sz="36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26D09AE7-CF14-B757-9C94-8FC7BE09C92E}"/>
              </a:ext>
            </a:extLst>
          </p:cNvPr>
          <p:cNvSpPr/>
          <p:nvPr/>
        </p:nvSpPr>
        <p:spPr>
          <a:xfrm>
            <a:off x="10011369" y="13163417"/>
            <a:ext cx="6348788" cy="4468426"/>
          </a:xfrm>
          <a:prstGeom prst="roundRect">
            <a:avLst>
              <a:gd name="adj" fmla="val 9908"/>
            </a:avLst>
          </a:prstGeom>
          <a:noFill/>
          <a:ln w="28575">
            <a:solidFill>
              <a:srgbClr val="68236E"/>
            </a:solidFill>
            <a:prstDash val="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709DC052-2804-43EC-7F59-F0D161AE3063}"/>
              </a:ext>
            </a:extLst>
          </p:cNvPr>
          <p:cNvSpPr/>
          <p:nvPr/>
        </p:nvSpPr>
        <p:spPr>
          <a:xfrm>
            <a:off x="10782583" y="12631435"/>
            <a:ext cx="4997355" cy="824400"/>
          </a:xfrm>
          <a:prstGeom prst="roundRect">
            <a:avLst>
              <a:gd name="adj" fmla="val 229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i="1" dirty="0">
                <a:solidFill>
                  <a:srgbClr val="68236E"/>
                </a:solidFill>
                <a:latin typeface="TeXGyrePagella" pitchFamily="2" charset="77"/>
              </a:rPr>
              <a:t>Ambiguous composers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92AA707-CBE2-BBBD-D0DC-B45E970658BB}"/>
              </a:ext>
            </a:extLst>
          </p:cNvPr>
          <p:cNvSpPr txBox="1"/>
          <p:nvPr/>
        </p:nvSpPr>
        <p:spPr>
          <a:xfrm>
            <a:off x="10046465" y="13420758"/>
            <a:ext cx="6261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eXGyrePagella" pitchFamily="2" charset="77"/>
                <a:ea typeface="CMU Concrete Roman" panose="02000603000000000000" pitchFamily="2" charset="0"/>
                <a:cs typeface="CMU Concrete Roman" panose="02000603000000000000" pitchFamily="2" charset="0"/>
              </a:rPr>
              <a:t>Query: </a:t>
            </a:r>
            <a:r>
              <a:rPr lang="en-GB" sz="24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“Jean-Baptiste </a:t>
            </a:r>
            <a:r>
              <a:rPr lang="en-GB" sz="2400" dirty="0" err="1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Loeillet</a:t>
            </a:r>
            <a:r>
              <a:rPr lang="en-GB" sz="24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”</a:t>
            </a:r>
            <a:r>
              <a:rPr lang="en-GB" sz="2400" dirty="0">
                <a:latin typeface="TeXGyrePagella" pitchFamily="2" charset="77"/>
                <a:ea typeface="CMU Concrete Roman" panose="02000603000000000000" pitchFamily="2" charset="0"/>
                <a:cs typeface="CMU Concrete Roman" panose="02000603000000000000" pitchFamily="2" charset="0"/>
              </a:rPr>
              <a:t> or </a:t>
            </a:r>
            <a:r>
              <a:rPr lang="en-GB" sz="24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“</a:t>
            </a:r>
            <a:r>
              <a:rPr lang="en-GB" sz="2400" dirty="0" err="1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Loeillet</a:t>
            </a:r>
            <a:r>
              <a:rPr lang="en-GB" sz="24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”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04C77A44-2C26-B4C8-9390-E70AA9D59547}"/>
              </a:ext>
            </a:extLst>
          </p:cNvPr>
          <p:cNvSpPr/>
          <p:nvPr/>
        </p:nvSpPr>
        <p:spPr>
          <a:xfrm>
            <a:off x="10004715" y="11755268"/>
            <a:ext cx="19476000" cy="824400"/>
          </a:xfrm>
          <a:prstGeom prst="roundRect">
            <a:avLst>
              <a:gd name="adj" fmla="val 22999"/>
            </a:avLst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TeXGyrePagella" pitchFamily="2" charset="77"/>
              </a:rPr>
              <a:t>(Some) Challenges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4E6E27AB-C39A-BE6E-F839-0BFF8904F3EF}"/>
              </a:ext>
            </a:extLst>
          </p:cNvPr>
          <p:cNvSpPr txBox="1"/>
          <p:nvPr/>
        </p:nvSpPr>
        <p:spPr>
          <a:xfrm>
            <a:off x="28399926" y="13744106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eXGyrePagella" pitchFamily="2" charset="77"/>
              </a:rPr>
              <a:t>Match?</a:t>
            </a:r>
          </a:p>
        </p:txBody>
      </p:sp>
      <p:sp>
        <p:nvSpPr>
          <p:cNvPr id="589" name="Rounded Rectangle 588">
            <a:extLst>
              <a:ext uri="{FF2B5EF4-FFF2-40B4-BE49-F238E27FC236}">
                <a16:creationId xmlns:a16="http://schemas.microsoft.com/office/drawing/2014/main" id="{35D65C99-E402-CBC1-E859-8A423D73A73C}"/>
              </a:ext>
            </a:extLst>
          </p:cNvPr>
          <p:cNvSpPr/>
          <p:nvPr/>
        </p:nvSpPr>
        <p:spPr>
          <a:xfrm>
            <a:off x="20487016" y="23917406"/>
            <a:ext cx="491308" cy="426439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82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2800" b="1" i="1" dirty="0">
                <a:solidFill>
                  <a:srgbClr val="68236E"/>
                </a:solidFill>
                <a:latin typeface="CMU BRIGHT OBLIQUE" panose="02000603000000000000" pitchFamily="2" charset="0"/>
                <a:ea typeface="CMU BRIGHT OBLIQUE" panose="02000603000000000000" pitchFamily="2" charset="0"/>
                <a:cs typeface="CMU BRIGHT OBLIQUE" panose="02000603000000000000" pitchFamily="2" charset="0"/>
              </a:rPr>
              <a:t>Rank candidates</a:t>
            </a:r>
          </a:p>
        </p:txBody>
      </p:sp>
      <p:sp>
        <p:nvSpPr>
          <p:cNvPr id="594" name="Round Same-side Corner of Rectangle 593">
            <a:extLst>
              <a:ext uri="{FF2B5EF4-FFF2-40B4-BE49-F238E27FC236}">
                <a16:creationId xmlns:a16="http://schemas.microsoft.com/office/drawing/2014/main" id="{29C3289D-468C-6F00-892A-4D9C079AAC9F}"/>
              </a:ext>
            </a:extLst>
          </p:cNvPr>
          <p:cNvSpPr/>
          <p:nvPr/>
        </p:nvSpPr>
        <p:spPr>
          <a:xfrm>
            <a:off x="16389280" y="24291257"/>
            <a:ext cx="3168576" cy="353294"/>
          </a:xfrm>
          <a:prstGeom prst="round2SameRect">
            <a:avLst/>
          </a:prstGeom>
          <a:solidFill>
            <a:srgbClr val="EBE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Graded Pieces</a:t>
            </a:r>
          </a:p>
        </p:txBody>
      </p:sp>
      <p:graphicFrame>
        <p:nvGraphicFramePr>
          <p:cNvPr id="595" name="Table 594">
            <a:extLst>
              <a:ext uri="{FF2B5EF4-FFF2-40B4-BE49-F238E27FC236}">
                <a16:creationId xmlns:a16="http://schemas.microsoft.com/office/drawing/2014/main" id="{2049A2EB-884C-AEDB-E4B1-1DB00426C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69598"/>
              </p:ext>
            </p:extLst>
          </p:nvPr>
        </p:nvGraphicFramePr>
        <p:xfrm>
          <a:off x="11267925" y="24258490"/>
          <a:ext cx="3158888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309">
                  <a:extLst>
                    <a:ext uri="{9D8B030D-6E8A-4147-A177-3AD203B41FA5}">
                      <a16:colId xmlns:a16="http://schemas.microsoft.com/office/drawing/2014/main" val="3172318925"/>
                    </a:ext>
                  </a:extLst>
                </a:gridCol>
                <a:gridCol w="1858579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189985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eXGyrePagella" pitchFamily="2" charset="77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latin typeface="TeXGyrePagella" pitchFamily="2" charset="77"/>
                        </a:rPr>
                        <a:t>Chaconne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Composer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latin typeface="TeXGyrePagella" pitchFamily="2" charset="77"/>
                        </a:rPr>
                        <a:t>Handel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Book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i="1" dirty="0">
                          <a:latin typeface="TeXGyrePagella" pitchFamily="2" charset="77"/>
                        </a:rPr>
                        <a:t>Classics to Moderns</a:t>
                      </a:r>
                      <a:r>
                        <a:rPr lang="en-GB" sz="1800" dirty="0">
                          <a:latin typeface="TeXGyrePagella" pitchFamily="2" charset="77"/>
                        </a:rPr>
                        <a:t>, Book 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98275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Difficulty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eXGyrePagella" pitchFamily="2" charset="77"/>
                        </a:rPr>
                        <a:t>Grade 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63738"/>
                  </a:ext>
                </a:extLst>
              </a:tr>
            </a:tbl>
          </a:graphicData>
        </a:graphic>
      </p:graphicFrame>
      <p:sp>
        <p:nvSpPr>
          <p:cNvPr id="596" name="Round Same-side Corner of Rectangle 595">
            <a:extLst>
              <a:ext uri="{FF2B5EF4-FFF2-40B4-BE49-F238E27FC236}">
                <a16:creationId xmlns:a16="http://schemas.microsoft.com/office/drawing/2014/main" id="{682B70E2-B786-AA7A-398B-8DF0A0CF0E52}"/>
              </a:ext>
            </a:extLst>
          </p:cNvPr>
          <p:cNvSpPr/>
          <p:nvPr/>
        </p:nvSpPr>
        <p:spPr>
          <a:xfrm>
            <a:off x="11258237" y="23901468"/>
            <a:ext cx="3168576" cy="353294"/>
          </a:xfrm>
          <a:prstGeom prst="round2SameRect">
            <a:avLst/>
          </a:prstGeom>
          <a:solidFill>
            <a:srgbClr val="EBE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Graded Pieces</a:t>
            </a:r>
          </a:p>
        </p:txBody>
      </p:sp>
      <p:graphicFrame>
        <p:nvGraphicFramePr>
          <p:cNvPr id="597" name="Table 596">
            <a:extLst>
              <a:ext uri="{FF2B5EF4-FFF2-40B4-BE49-F238E27FC236}">
                <a16:creationId xmlns:a16="http://schemas.microsoft.com/office/drawing/2014/main" id="{8EF374D6-8E7C-9518-6658-0D8ADD068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523066"/>
              </p:ext>
            </p:extLst>
          </p:nvPr>
        </p:nvGraphicFramePr>
        <p:xfrm>
          <a:off x="16064998" y="25951090"/>
          <a:ext cx="3931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200">
                  <a:extLst>
                    <a:ext uri="{9D8B030D-6E8A-4147-A177-3AD203B41FA5}">
                      <a16:colId xmlns:a16="http://schemas.microsoft.com/office/drawing/2014/main" val="1323167417"/>
                    </a:ext>
                  </a:extLst>
                </a:gridCol>
              </a:tblGrid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eXGyrePagella" pitchFamily="2" charset="77"/>
                        </a:rPr>
                        <a:t>Handel -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Chaconne in F major, HWV 485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6341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Handel - Suite in G minor, HWV 432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86840"/>
                  </a:ext>
                </a:extLst>
              </a:tr>
              <a:tr h="189985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Handel – </a:t>
                      </a:r>
                      <a:r>
                        <a:rPr lang="en-GB" sz="1800" kern="1200" dirty="0" err="1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Admeto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TeXGyrePagella" pitchFamily="2" charset="77"/>
                          <a:ea typeface="+mn-ea"/>
                          <a:cs typeface="+mn-cs"/>
                        </a:rPr>
                        <a:t>, HWV 22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755158"/>
                  </a:ext>
                </a:extLst>
              </a:tr>
            </a:tbl>
          </a:graphicData>
        </a:graphic>
      </p:graphicFrame>
      <p:sp>
        <p:nvSpPr>
          <p:cNvPr id="598" name="Round Same-side Corner of Rectangle 597">
            <a:extLst>
              <a:ext uri="{FF2B5EF4-FFF2-40B4-BE49-F238E27FC236}">
                <a16:creationId xmlns:a16="http://schemas.microsoft.com/office/drawing/2014/main" id="{FE9EBCC0-DFD8-C4F2-6810-388BA83646A6}"/>
              </a:ext>
            </a:extLst>
          </p:cNvPr>
          <p:cNvSpPr/>
          <p:nvPr/>
        </p:nvSpPr>
        <p:spPr>
          <a:xfrm>
            <a:off x="16064999" y="25597793"/>
            <a:ext cx="3931199" cy="353294"/>
          </a:xfrm>
          <a:prstGeom prst="round2SameRect">
            <a:avLst/>
          </a:prstGeom>
          <a:solidFill>
            <a:srgbClr val="C3F3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Candidate Works</a:t>
            </a:r>
          </a:p>
        </p:txBody>
      </p:sp>
      <p:cxnSp>
        <p:nvCxnSpPr>
          <p:cNvPr id="601" name="Straight Arrow Connector 600">
            <a:extLst>
              <a:ext uri="{FF2B5EF4-FFF2-40B4-BE49-F238E27FC236}">
                <a16:creationId xmlns:a16="http://schemas.microsoft.com/office/drawing/2014/main" id="{9C0D45B1-9827-FAB6-2BBA-069470E2F774}"/>
              </a:ext>
            </a:extLst>
          </p:cNvPr>
          <p:cNvCxnSpPr>
            <a:cxnSpLocks/>
          </p:cNvCxnSpPr>
          <p:nvPr/>
        </p:nvCxnSpPr>
        <p:spPr>
          <a:xfrm>
            <a:off x="20978324" y="26652224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Rounded Rectangle 601">
            <a:extLst>
              <a:ext uri="{FF2B5EF4-FFF2-40B4-BE49-F238E27FC236}">
                <a16:creationId xmlns:a16="http://schemas.microsoft.com/office/drawing/2014/main" id="{13279F75-2C2A-6287-39D9-2F83A4153BB7}"/>
              </a:ext>
            </a:extLst>
          </p:cNvPr>
          <p:cNvSpPr/>
          <p:nvPr/>
        </p:nvSpPr>
        <p:spPr>
          <a:xfrm>
            <a:off x="15106962" y="23917406"/>
            <a:ext cx="491308" cy="426439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82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2800" b="1" i="1" dirty="0">
                <a:solidFill>
                  <a:srgbClr val="68236E"/>
                </a:solidFill>
                <a:latin typeface="CMU BRIGHT OBLIQUE" panose="02000603000000000000" pitchFamily="2" charset="0"/>
                <a:ea typeface="CMU BRIGHT OBLIQUE" panose="02000603000000000000" pitchFamily="2" charset="0"/>
                <a:cs typeface="CMU BRIGHT OBLIQUE" panose="02000603000000000000" pitchFamily="2" charset="0"/>
              </a:rPr>
              <a:t>Reconcile other entities</a:t>
            </a:r>
          </a:p>
        </p:txBody>
      </p: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5DE5BB72-C900-AC59-5CF5-B3AFF50ECB04}"/>
              </a:ext>
            </a:extLst>
          </p:cNvPr>
          <p:cNvCxnSpPr>
            <a:cxnSpLocks/>
          </p:cNvCxnSpPr>
          <p:nvPr/>
        </p:nvCxnSpPr>
        <p:spPr>
          <a:xfrm>
            <a:off x="20125838" y="26654838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604">
            <a:extLst>
              <a:ext uri="{FF2B5EF4-FFF2-40B4-BE49-F238E27FC236}">
                <a16:creationId xmlns:a16="http://schemas.microsoft.com/office/drawing/2014/main" id="{9488A883-EA3D-D819-64A2-B0AC64F6B156}"/>
              </a:ext>
            </a:extLst>
          </p:cNvPr>
          <p:cNvCxnSpPr>
            <a:cxnSpLocks/>
          </p:cNvCxnSpPr>
          <p:nvPr/>
        </p:nvCxnSpPr>
        <p:spPr>
          <a:xfrm>
            <a:off x="15599799" y="26652224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FFA1A19D-82B0-BE30-F25D-2642BC8CEF34}"/>
              </a:ext>
            </a:extLst>
          </p:cNvPr>
          <p:cNvCxnSpPr>
            <a:cxnSpLocks/>
          </p:cNvCxnSpPr>
          <p:nvPr/>
        </p:nvCxnSpPr>
        <p:spPr>
          <a:xfrm>
            <a:off x="15611268" y="24908090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Arrow Connector 606">
            <a:extLst>
              <a:ext uri="{FF2B5EF4-FFF2-40B4-BE49-F238E27FC236}">
                <a16:creationId xmlns:a16="http://schemas.microsoft.com/office/drawing/2014/main" id="{2CBFB5B2-4B7F-B44A-02B3-C505FCDF6D88}"/>
              </a:ext>
            </a:extLst>
          </p:cNvPr>
          <p:cNvCxnSpPr>
            <a:cxnSpLocks/>
          </p:cNvCxnSpPr>
          <p:nvPr/>
        </p:nvCxnSpPr>
        <p:spPr>
          <a:xfrm>
            <a:off x="14704467" y="26645031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Arrow Connector 607">
            <a:extLst>
              <a:ext uri="{FF2B5EF4-FFF2-40B4-BE49-F238E27FC236}">
                <a16:creationId xmlns:a16="http://schemas.microsoft.com/office/drawing/2014/main" id="{F966990A-7981-204A-B040-7808566686ED}"/>
              </a:ext>
            </a:extLst>
          </p:cNvPr>
          <p:cNvCxnSpPr>
            <a:cxnSpLocks/>
          </p:cNvCxnSpPr>
          <p:nvPr/>
        </p:nvCxnSpPr>
        <p:spPr>
          <a:xfrm>
            <a:off x="14715936" y="24900897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" name="Can 608">
            <a:extLst>
              <a:ext uri="{FF2B5EF4-FFF2-40B4-BE49-F238E27FC236}">
                <a16:creationId xmlns:a16="http://schemas.microsoft.com/office/drawing/2014/main" id="{8E94A46B-ADC8-0B7C-E118-EB9093B4C4BA}"/>
              </a:ext>
            </a:extLst>
          </p:cNvPr>
          <p:cNvSpPr/>
          <p:nvPr/>
        </p:nvSpPr>
        <p:spPr>
          <a:xfrm>
            <a:off x="12274286" y="26411906"/>
            <a:ext cx="996154" cy="1130225"/>
          </a:xfrm>
          <a:prstGeom prst="can">
            <a:avLst/>
          </a:prstGeom>
          <a:solidFill>
            <a:srgbClr val="C3F3F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FD3DA6EB-B3EA-B293-6FE8-1B2D73C2A5AD}"/>
              </a:ext>
            </a:extLst>
          </p:cNvPr>
          <p:cNvSpPr txBox="1"/>
          <p:nvPr/>
        </p:nvSpPr>
        <p:spPr>
          <a:xfrm>
            <a:off x="11614300" y="27626355"/>
            <a:ext cx="229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eXGyrePagella" pitchFamily="2" charset="77"/>
              </a:rPr>
              <a:t>e.g. </a:t>
            </a:r>
            <a:r>
              <a:rPr lang="en-GB" sz="2800" b="1" dirty="0">
                <a:latin typeface="TeXGyrePagella" pitchFamily="2" charset="77"/>
              </a:rPr>
              <a:t>IMSLP</a:t>
            </a:r>
          </a:p>
        </p:txBody>
      </p:sp>
      <p:cxnSp>
        <p:nvCxnSpPr>
          <p:cNvPr id="613" name="Straight Arrow Connector 612">
            <a:extLst>
              <a:ext uri="{FF2B5EF4-FFF2-40B4-BE49-F238E27FC236}">
                <a16:creationId xmlns:a16="http://schemas.microsoft.com/office/drawing/2014/main" id="{A546162A-464F-16AF-E7B7-D46157E47A6D}"/>
              </a:ext>
            </a:extLst>
          </p:cNvPr>
          <p:cNvCxnSpPr>
            <a:cxnSpLocks/>
          </p:cNvCxnSpPr>
          <p:nvPr/>
        </p:nvCxnSpPr>
        <p:spPr>
          <a:xfrm>
            <a:off x="25334648" y="27086577"/>
            <a:ext cx="361178" cy="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Arrow Connector 613">
            <a:extLst>
              <a:ext uri="{FF2B5EF4-FFF2-40B4-BE49-F238E27FC236}">
                <a16:creationId xmlns:a16="http://schemas.microsoft.com/office/drawing/2014/main" id="{C51FDDDB-5876-0DE1-B607-66BCA3EA0C88}"/>
              </a:ext>
            </a:extLst>
          </p:cNvPr>
          <p:cNvCxnSpPr>
            <a:cxnSpLocks/>
          </p:cNvCxnSpPr>
          <p:nvPr/>
        </p:nvCxnSpPr>
        <p:spPr>
          <a:xfrm flipV="1">
            <a:off x="25343010" y="26269078"/>
            <a:ext cx="360000" cy="468082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28C1570C-1099-2231-8FAA-4A4B0AB08AF1}"/>
              </a:ext>
            </a:extLst>
          </p:cNvPr>
          <p:cNvCxnSpPr>
            <a:cxnSpLocks/>
          </p:cNvCxnSpPr>
          <p:nvPr/>
        </p:nvCxnSpPr>
        <p:spPr>
          <a:xfrm flipV="1">
            <a:off x="25339441" y="25182657"/>
            <a:ext cx="360000" cy="1080000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Arrow Connector 617">
            <a:extLst>
              <a:ext uri="{FF2B5EF4-FFF2-40B4-BE49-F238E27FC236}">
                <a16:creationId xmlns:a16="http://schemas.microsoft.com/office/drawing/2014/main" id="{7A4C2DF5-FDF9-1FDA-C68C-0C92D700804D}"/>
              </a:ext>
            </a:extLst>
          </p:cNvPr>
          <p:cNvCxnSpPr>
            <a:cxnSpLocks/>
          </p:cNvCxnSpPr>
          <p:nvPr/>
        </p:nvCxnSpPr>
        <p:spPr>
          <a:xfrm>
            <a:off x="25334648" y="24824198"/>
            <a:ext cx="361178" cy="1122458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Arrow Connector 620">
            <a:extLst>
              <a:ext uri="{FF2B5EF4-FFF2-40B4-BE49-F238E27FC236}">
                <a16:creationId xmlns:a16="http://schemas.microsoft.com/office/drawing/2014/main" id="{8FE86462-956D-7A16-0B9D-770E9736C7BC}"/>
              </a:ext>
            </a:extLst>
          </p:cNvPr>
          <p:cNvCxnSpPr>
            <a:cxnSpLocks/>
          </p:cNvCxnSpPr>
          <p:nvPr/>
        </p:nvCxnSpPr>
        <p:spPr>
          <a:xfrm>
            <a:off x="25327464" y="24840035"/>
            <a:ext cx="326645" cy="1958398"/>
          </a:xfrm>
          <a:prstGeom prst="straightConnector1">
            <a:avLst/>
          </a:prstGeom>
          <a:ln w="28575">
            <a:solidFill>
              <a:srgbClr val="68236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Group 644">
            <a:extLst>
              <a:ext uri="{FF2B5EF4-FFF2-40B4-BE49-F238E27FC236}">
                <a16:creationId xmlns:a16="http://schemas.microsoft.com/office/drawing/2014/main" id="{73FC5F7E-B882-1B76-CDD5-CC575CEDF9A8}"/>
              </a:ext>
            </a:extLst>
          </p:cNvPr>
          <p:cNvGrpSpPr/>
          <p:nvPr/>
        </p:nvGrpSpPr>
        <p:grpSpPr>
          <a:xfrm>
            <a:off x="20398655" y="29410606"/>
            <a:ext cx="8844441" cy="8822906"/>
            <a:chOff x="10150090" y="29410606"/>
            <a:chExt cx="8844441" cy="8822906"/>
          </a:xfrm>
        </p:grpSpPr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78F5071E-33DE-15B1-21F7-BA50EB3DBD9D}"/>
                </a:ext>
              </a:extLst>
            </p:cNvPr>
            <p:cNvGrpSpPr/>
            <p:nvPr/>
          </p:nvGrpSpPr>
          <p:grpSpPr>
            <a:xfrm>
              <a:off x="10150090" y="29410606"/>
              <a:ext cx="8844441" cy="8822906"/>
              <a:chOff x="11860025" y="25472611"/>
              <a:chExt cx="5445735" cy="3050145"/>
            </a:xfrm>
          </p:grpSpPr>
          <p:sp>
            <p:nvSpPr>
              <p:cNvPr id="578" name="Rounded Rectangle 577">
                <a:extLst>
                  <a:ext uri="{FF2B5EF4-FFF2-40B4-BE49-F238E27FC236}">
                    <a16:creationId xmlns:a16="http://schemas.microsoft.com/office/drawing/2014/main" id="{EB071ACE-6B32-C7BE-5145-AE6AC07F6315}"/>
                  </a:ext>
                </a:extLst>
              </p:cNvPr>
              <p:cNvSpPr/>
              <p:nvPr/>
            </p:nvSpPr>
            <p:spPr>
              <a:xfrm>
                <a:off x="11860025" y="25590247"/>
                <a:ext cx="5445735" cy="2932509"/>
              </a:xfrm>
              <a:prstGeom prst="roundRect">
                <a:avLst>
                  <a:gd name="adj" fmla="val 4256"/>
                </a:avLst>
              </a:prstGeom>
              <a:noFill/>
              <a:ln w="28575">
                <a:solidFill>
                  <a:srgbClr val="68236E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579" name="Rounded Rectangle 578">
                <a:extLst>
                  <a:ext uri="{FF2B5EF4-FFF2-40B4-BE49-F238E27FC236}">
                    <a16:creationId xmlns:a16="http://schemas.microsoft.com/office/drawing/2014/main" id="{C10CF8E7-CFBA-D3A4-C540-CE2B6794FA6A}"/>
                  </a:ext>
                </a:extLst>
              </p:cNvPr>
              <p:cNvSpPr/>
              <p:nvPr/>
            </p:nvSpPr>
            <p:spPr>
              <a:xfrm>
                <a:off x="12193395" y="25472611"/>
                <a:ext cx="4326578" cy="235820"/>
              </a:xfrm>
              <a:prstGeom prst="roundRect">
                <a:avLst>
                  <a:gd name="adj" fmla="val 2299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3200" b="1" i="1" dirty="0">
                    <a:solidFill>
                      <a:srgbClr val="68236E"/>
                    </a:solidFill>
                    <a:latin typeface="TeXGyrePagella" pitchFamily="2" charset="77"/>
                  </a:rPr>
                  <a:t>How accurate is the LLM matching?</a:t>
                </a:r>
              </a:p>
            </p:txBody>
          </p:sp>
        </p:grp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E82780CB-241D-4415-0688-F988F413522B}"/>
                </a:ext>
              </a:extLst>
            </p:cNvPr>
            <p:cNvSpPr txBox="1"/>
            <p:nvPr/>
          </p:nvSpPr>
          <p:spPr>
            <a:xfrm>
              <a:off x="10317284" y="30216410"/>
              <a:ext cx="850895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rgbClr val="000000"/>
                  </a:solidFill>
                  <a:latin typeface="TeXGyrePagella" pitchFamily="2" charset="77"/>
                </a:rPr>
                <a:t>LLMs can accurately detect when two pieces match (i.e. ‘match’ vs ‘no match’), but </a:t>
              </a:r>
              <a:r>
                <a:rPr lang="en-GB" sz="3200" b="1" dirty="0">
                  <a:solidFill>
                    <a:srgbClr val="F98757"/>
                  </a:solidFill>
                  <a:latin typeface="TeXGyrePagella" pitchFamily="2" charset="77"/>
                </a:rPr>
                <a:t>not the type of match </a:t>
              </a:r>
              <a:r>
                <a:rPr lang="en-GB" sz="3200" dirty="0">
                  <a:solidFill>
                    <a:srgbClr val="000000"/>
                  </a:solidFill>
                  <a:latin typeface="TeXGyrePagella" pitchFamily="2" charset="77"/>
                </a:rPr>
                <a:t>(i.e. ‘match’ vs ‘A is part of B’).</a:t>
              </a:r>
            </a:p>
          </p:txBody>
        </p: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9A520A94-201D-BEC0-673A-486306857250}"/>
                </a:ext>
              </a:extLst>
            </p:cNvPr>
            <p:cNvGrpSpPr/>
            <p:nvPr/>
          </p:nvGrpSpPr>
          <p:grpSpPr>
            <a:xfrm>
              <a:off x="10317284" y="32351025"/>
              <a:ext cx="8574048" cy="4364762"/>
              <a:chOff x="10317284" y="32176308"/>
              <a:chExt cx="8574048" cy="4364762"/>
            </a:xfrm>
          </p:grpSpPr>
          <p:pic>
            <p:nvPicPr>
              <p:cNvPr id="593" name="Picture 592">
                <a:extLst>
                  <a:ext uri="{FF2B5EF4-FFF2-40B4-BE49-F238E27FC236}">
                    <a16:creationId xmlns:a16="http://schemas.microsoft.com/office/drawing/2014/main" id="{7FBE4315-8FC0-CDAD-C0AF-31F2875D6D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8847"/>
              <a:stretch/>
            </p:blipFill>
            <p:spPr>
              <a:xfrm>
                <a:off x="10317284" y="32176308"/>
                <a:ext cx="8574048" cy="4364762"/>
              </a:xfrm>
              <a:prstGeom prst="rect">
                <a:avLst/>
              </a:prstGeom>
            </p:spPr>
          </p:pic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CE117B5B-571B-BFFF-BE6E-12393C93AD8D}"/>
                  </a:ext>
                </a:extLst>
              </p:cNvPr>
              <p:cNvSpPr/>
              <p:nvPr/>
            </p:nvSpPr>
            <p:spPr>
              <a:xfrm flipH="1">
                <a:off x="14555864" y="32733511"/>
                <a:ext cx="2975319" cy="3439523"/>
              </a:xfrm>
              <a:prstGeom prst="rect">
                <a:avLst/>
              </a:prstGeom>
              <a:noFill/>
              <a:ln w="38100">
                <a:solidFill>
                  <a:srgbClr val="F98757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3DFA8601-1D1E-1626-C31A-FC86AA60BF81}"/>
                  </a:ext>
                </a:extLst>
              </p:cNvPr>
              <p:cNvSpPr/>
              <p:nvPr/>
            </p:nvSpPr>
            <p:spPr>
              <a:xfrm flipH="1">
                <a:off x="14792151" y="34970800"/>
                <a:ext cx="835965" cy="1202234"/>
              </a:xfrm>
              <a:prstGeom prst="rect">
                <a:avLst/>
              </a:prstGeom>
              <a:noFill/>
              <a:ln w="38100">
                <a:solidFill>
                  <a:srgbClr val="FFBF55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29" name="TextBox 628">
              <a:extLst>
                <a:ext uri="{FF2B5EF4-FFF2-40B4-BE49-F238E27FC236}">
                  <a16:creationId xmlns:a16="http://schemas.microsoft.com/office/drawing/2014/main" id="{02646CE0-A702-6DED-A2B1-E4096EC9D68B}"/>
                </a:ext>
              </a:extLst>
            </p:cNvPr>
            <p:cNvSpPr txBox="1"/>
            <p:nvPr/>
          </p:nvSpPr>
          <p:spPr>
            <a:xfrm>
              <a:off x="10722188" y="36950956"/>
              <a:ext cx="760581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rgbClr val="000000"/>
                  </a:solidFill>
                  <a:latin typeface="TeXGyrePagella" pitchFamily="2" charset="77"/>
                </a:rPr>
                <a:t>Commercial models substantially </a:t>
              </a:r>
              <a:r>
                <a:rPr lang="en-GB" sz="3200" b="1" dirty="0">
                  <a:solidFill>
                    <a:srgbClr val="FFBF55"/>
                  </a:solidFill>
                  <a:latin typeface="TeXGyrePagella" pitchFamily="2" charset="77"/>
                </a:rPr>
                <a:t>outperform SOTA open weight models.</a:t>
              </a:r>
            </a:p>
          </p:txBody>
        </p:sp>
      </p:grp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8A3A61FD-F57A-778A-A58F-3207DD6CCAE0}"/>
              </a:ext>
            </a:extLst>
          </p:cNvPr>
          <p:cNvCxnSpPr/>
          <p:nvPr/>
        </p:nvCxnSpPr>
        <p:spPr>
          <a:xfrm>
            <a:off x="25305851" y="11013813"/>
            <a:ext cx="794318" cy="0"/>
          </a:xfrm>
          <a:prstGeom prst="straightConnector1">
            <a:avLst/>
          </a:prstGeom>
          <a:ln w="28575">
            <a:prstDash val="solid"/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58413708-D502-9B8C-540E-2B01DB206C79}"/>
              </a:ext>
            </a:extLst>
          </p:cNvPr>
          <p:cNvSpPr txBox="1"/>
          <p:nvPr/>
        </p:nvSpPr>
        <p:spPr>
          <a:xfrm>
            <a:off x="26172302" y="10830365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Links to infer</a:t>
            </a:r>
          </a:p>
        </p:txBody>
      </p: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FA649444-E8CE-8D39-1F0F-E4359E29061D}"/>
              </a:ext>
            </a:extLst>
          </p:cNvPr>
          <p:cNvGrpSpPr/>
          <p:nvPr/>
        </p:nvGrpSpPr>
        <p:grpSpPr>
          <a:xfrm>
            <a:off x="10080318" y="29408079"/>
            <a:ext cx="10154201" cy="8804188"/>
            <a:chOff x="19320570" y="29408079"/>
            <a:chExt cx="10154201" cy="8804188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80494600-4FF0-D07D-B88C-46B0773F1FED}"/>
                </a:ext>
              </a:extLst>
            </p:cNvPr>
            <p:cNvGrpSpPr/>
            <p:nvPr/>
          </p:nvGrpSpPr>
          <p:grpSpPr>
            <a:xfrm>
              <a:off x="19320570" y="29408079"/>
              <a:ext cx="10118760" cy="4451516"/>
              <a:chOff x="11860025" y="25401275"/>
              <a:chExt cx="6230364" cy="2361955"/>
            </a:xfrm>
          </p:grpSpPr>
          <p:sp>
            <p:nvSpPr>
              <p:cNvPr id="313" name="Rounded Rectangle 312">
                <a:extLst>
                  <a:ext uri="{FF2B5EF4-FFF2-40B4-BE49-F238E27FC236}">
                    <a16:creationId xmlns:a16="http://schemas.microsoft.com/office/drawing/2014/main" id="{153FA827-01B6-DB31-D91B-CC94CCB700E0}"/>
                  </a:ext>
                </a:extLst>
              </p:cNvPr>
              <p:cNvSpPr/>
              <p:nvPr/>
            </p:nvSpPr>
            <p:spPr>
              <a:xfrm>
                <a:off x="11860025" y="25590247"/>
                <a:ext cx="6230364" cy="2172983"/>
              </a:xfrm>
              <a:prstGeom prst="roundRect">
                <a:avLst>
                  <a:gd name="adj" fmla="val 9908"/>
                </a:avLst>
              </a:prstGeom>
              <a:noFill/>
              <a:ln w="28575">
                <a:solidFill>
                  <a:srgbClr val="68236E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dirty="0"/>
              </a:p>
            </p:txBody>
          </p:sp>
          <p:sp>
            <p:nvSpPr>
              <p:cNvPr id="314" name="Rounded Rectangle 313">
                <a:extLst>
                  <a:ext uri="{FF2B5EF4-FFF2-40B4-BE49-F238E27FC236}">
                    <a16:creationId xmlns:a16="http://schemas.microsoft.com/office/drawing/2014/main" id="{80A85E78-A815-5AC9-24CD-FBDCAFF5646C}"/>
                  </a:ext>
                </a:extLst>
              </p:cNvPr>
              <p:cNvSpPr/>
              <p:nvPr/>
            </p:nvSpPr>
            <p:spPr>
              <a:xfrm>
                <a:off x="12193395" y="25401275"/>
                <a:ext cx="4709509" cy="325553"/>
              </a:xfrm>
              <a:prstGeom prst="roundRect">
                <a:avLst>
                  <a:gd name="adj" fmla="val 2299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3200" b="1" i="1" dirty="0">
                    <a:solidFill>
                      <a:srgbClr val="68236E"/>
                    </a:solidFill>
                    <a:latin typeface="TeXGyrePagella" pitchFamily="2" charset="77"/>
                  </a:rPr>
                  <a:t>How many pieces can be matched?</a:t>
                </a:r>
              </a:p>
            </p:txBody>
          </p:sp>
        </p:grpSp>
        <p:pic>
          <p:nvPicPr>
            <p:cNvPr id="636" name="Picture 635">
              <a:extLst>
                <a:ext uri="{FF2B5EF4-FFF2-40B4-BE49-F238E27FC236}">
                  <a16:creationId xmlns:a16="http://schemas.microsoft.com/office/drawing/2014/main" id="{BE7705C3-74C6-6D03-7D51-D3AE735A6D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5980" t="6105" r="3360" b="9182"/>
            <a:stretch/>
          </p:blipFill>
          <p:spPr>
            <a:xfrm>
              <a:off x="20359369" y="30532853"/>
              <a:ext cx="7795932" cy="2663972"/>
            </a:xfrm>
            <a:prstGeom prst="rect">
              <a:avLst/>
            </a:prstGeom>
          </p:spPr>
        </p:pic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81BF7408-F513-CB8D-496D-AE00FD2B0EC7}"/>
                </a:ext>
              </a:extLst>
            </p:cNvPr>
            <p:cNvSpPr txBox="1"/>
            <p:nvPr/>
          </p:nvSpPr>
          <p:spPr>
            <a:xfrm>
              <a:off x="19532343" y="29995674"/>
              <a:ext cx="9541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latin typeface="TeXGyrePagella" pitchFamily="2" charset="77"/>
                </a:rPr>
                <a:t>Of 5,057 piano pieces with known composers:.</a:t>
              </a:r>
            </a:p>
          </p:txBody>
        </p:sp>
        <p:sp>
          <p:nvSpPr>
            <p:cNvPr id="638" name="TextBox 637">
              <a:extLst>
                <a:ext uri="{FF2B5EF4-FFF2-40B4-BE49-F238E27FC236}">
                  <a16:creationId xmlns:a16="http://schemas.microsoft.com/office/drawing/2014/main" id="{1B9C426B-105B-F815-460B-4A79CB307A5B}"/>
                </a:ext>
              </a:extLst>
            </p:cNvPr>
            <p:cNvSpPr txBox="1"/>
            <p:nvPr/>
          </p:nvSpPr>
          <p:spPr>
            <a:xfrm>
              <a:off x="19486600" y="33208286"/>
              <a:ext cx="9541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A9316C"/>
                  </a:solidFill>
                  <a:latin typeface="TeXGyrePagella" pitchFamily="2" charset="77"/>
                </a:rPr>
                <a:t>47% have a matching IMSLP work.</a:t>
              </a: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E0DE6820-9975-AFD0-ED14-EB5958707654}"/>
                </a:ext>
              </a:extLst>
            </p:cNvPr>
            <p:cNvSpPr/>
            <p:nvPr/>
          </p:nvSpPr>
          <p:spPr>
            <a:xfrm flipH="1">
              <a:off x="22420985" y="31414439"/>
              <a:ext cx="5465083" cy="505540"/>
            </a:xfrm>
            <a:prstGeom prst="rect">
              <a:avLst/>
            </a:prstGeom>
            <a:noFill/>
            <a:ln w="38100">
              <a:solidFill>
                <a:srgbClr val="A9316C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0A598FBD-FBBB-A503-8077-FF2A23E67C04}"/>
                </a:ext>
              </a:extLst>
            </p:cNvPr>
            <p:cNvGrpSpPr/>
            <p:nvPr/>
          </p:nvGrpSpPr>
          <p:grpSpPr>
            <a:xfrm>
              <a:off x="19356011" y="33981118"/>
              <a:ext cx="10118760" cy="4231149"/>
              <a:chOff x="11860025" y="25401275"/>
              <a:chExt cx="6230364" cy="2245029"/>
            </a:xfrm>
          </p:grpSpPr>
          <p:sp>
            <p:nvSpPr>
              <p:cNvPr id="642" name="Rounded Rectangle 641">
                <a:extLst>
                  <a:ext uri="{FF2B5EF4-FFF2-40B4-BE49-F238E27FC236}">
                    <a16:creationId xmlns:a16="http://schemas.microsoft.com/office/drawing/2014/main" id="{E2C957A0-B121-C1E6-7577-2EED54B3A009}"/>
                  </a:ext>
                </a:extLst>
              </p:cNvPr>
              <p:cNvSpPr/>
              <p:nvPr/>
            </p:nvSpPr>
            <p:spPr>
              <a:xfrm>
                <a:off x="11860025" y="25590247"/>
                <a:ext cx="6230364" cy="2056057"/>
              </a:xfrm>
              <a:prstGeom prst="roundRect">
                <a:avLst>
                  <a:gd name="adj" fmla="val 9908"/>
                </a:avLst>
              </a:prstGeom>
              <a:noFill/>
              <a:ln w="28575">
                <a:solidFill>
                  <a:srgbClr val="68236E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dirty="0"/>
              </a:p>
            </p:txBody>
          </p:sp>
          <p:sp>
            <p:nvSpPr>
              <p:cNvPr id="643" name="Rounded Rectangle 642">
                <a:extLst>
                  <a:ext uri="{FF2B5EF4-FFF2-40B4-BE49-F238E27FC236}">
                    <a16:creationId xmlns:a16="http://schemas.microsoft.com/office/drawing/2014/main" id="{8CEB1CD5-A654-90AD-6650-2B5E000CC7F6}"/>
                  </a:ext>
                </a:extLst>
              </p:cNvPr>
              <p:cNvSpPr/>
              <p:nvPr/>
            </p:nvSpPr>
            <p:spPr>
              <a:xfrm>
                <a:off x="12193395" y="25401275"/>
                <a:ext cx="4709509" cy="325553"/>
              </a:xfrm>
              <a:prstGeom prst="roundRect">
                <a:avLst>
                  <a:gd name="adj" fmla="val 2299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3200" b="1" i="1" dirty="0">
                    <a:solidFill>
                      <a:srgbClr val="68236E"/>
                    </a:solidFill>
                    <a:latin typeface="TeXGyrePagella" pitchFamily="2" charset="77"/>
                  </a:rPr>
                  <a:t>How many composers can be matched?</a:t>
                </a:r>
              </a:p>
            </p:txBody>
          </p:sp>
        </p:grpSp>
      </p:grpSp>
      <p:pic>
        <p:nvPicPr>
          <p:cNvPr id="647" name="Picture 646">
            <a:extLst>
              <a:ext uri="{FF2B5EF4-FFF2-40B4-BE49-F238E27FC236}">
                <a16:creationId xmlns:a16="http://schemas.microsoft.com/office/drawing/2014/main" id="{F6D6BE21-B0A6-D46A-8C39-F422912152B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879"/>
          <a:stretch/>
        </p:blipFill>
        <p:spPr>
          <a:xfrm>
            <a:off x="10271147" y="34740890"/>
            <a:ext cx="5499361" cy="3403150"/>
          </a:xfrm>
          <a:prstGeom prst="rect">
            <a:avLst/>
          </a:prstGeom>
        </p:spPr>
      </p:pic>
      <p:sp>
        <p:nvSpPr>
          <p:cNvPr id="648" name="TextBox 647">
            <a:extLst>
              <a:ext uri="{FF2B5EF4-FFF2-40B4-BE49-F238E27FC236}">
                <a16:creationId xmlns:a16="http://schemas.microsoft.com/office/drawing/2014/main" id="{EA274C16-7ADA-C3EE-7B45-8C442EB63755}"/>
              </a:ext>
            </a:extLst>
          </p:cNvPr>
          <p:cNvSpPr txBox="1"/>
          <p:nvPr/>
        </p:nvSpPr>
        <p:spPr>
          <a:xfrm>
            <a:off x="15899634" y="34857534"/>
            <a:ext cx="433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DB5663"/>
                </a:solidFill>
                <a:latin typeface="TeXGyrePagella" pitchFamily="2" charset="77"/>
              </a:rPr>
              <a:t>11k composers </a:t>
            </a:r>
            <a:r>
              <a:rPr lang="en-GB" sz="2800" dirty="0">
                <a:latin typeface="TeXGyrePagella" pitchFamily="2" charset="77"/>
              </a:rPr>
              <a:t>matched to a </a:t>
            </a:r>
            <a:r>
              <a:rPr lang="en-GB" sz="2800" dirty="0" err="1">
                <a:latin typeface="TeXGyrePagella" pitchFamily="2" charset="77"/>
              </a:rPr>
              <a:t>MusicBrainz</a:t>
            </a:r>
            <a:r>
              <a:rPr lang="en-GB" sz="2800" dirty="0">
                <a:latin typeface="TeXGyrePagella" pitchFamily="2" charset="77"/>
              </a:rPr>
              <a:t> artist.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B4632A30-D777-F890-BD1C-BC3FE7E3937E}"/>
              </a:ext>
            </a:extLst>
          </p:cNvPr>
          <p:cNvSpPr/>
          <p:nvPr/>
        </p:nvSpPr>
        <p:spPr>
          <a:xfrm flipH="1">
            <a:off x="13202102" y="36052515"/>
            <a:ext cx="2485592" cy="368383"/>
          </a:xfrm>
          <a:prstGeom prst="rect">
            <a:avLst/>
          </a:prstGeom>
          <a:noFill/>
          <a:ln w="38100">
            <a:solidFill>
              <a:srgbClr val="DB566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36F61B09-877B-E29F-A700-B2253BF1F46F}"/>
              </a:ext>
            </a:extLst>
          </p:cNvPr>
          <p:cNvSpPr txBox="1"/>
          <p:nvPr/>
        </p:nvSpPr>
        <p:spPr>
          <a:xfrm>
            <a:off x="15687694" y="36729089"/>
            <a:ext cx="4579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eXGyrePagella" pitchFamily="2" charset="77"/>
              </a:rPr>
              <a:t>Matching to </a:t>
            </a:r>
            <a:r>
              <a:rPr lang="en-GB" sz="2800" dirty="0" err="1">
                <a:latin typeface="TeXGyrePagella" pitchFamily="2" charset="77"/>
              </a:rPr>
              <a:t>MusicBrainz</a:t>
            </a:r>
            <a:r>
              <a:rPr lang="en-GB" sz="2800" dirty="0">
                <a:latin typeface="TeXGyrePagella" pitchFamily="2" charset="77"/>
              </a:rPr>
              <a:t> vs </a:t>
            </a:r>
            <a:r>
              <a:rPr lang="en-GB" sz="2800" dirty="0" err="1">
                <a:latin typeface="TeXGyrePagella" pitchFamily="2" charset="77"/>
              </a:rPr>
              <a:t>WikiData</a:t>
            </a:r>
            <a:r>
              <a:rPr lang="en-GB" sz="2800" dirty="0">
                <a:latin typeface="TeXGyrePagella" pitchFamily="2" charset="77"/>
              </a:rPr>
              <a:t> is </a:t>
            </a:r>
            <a:r>
              <a:rPr lang="en-GB" sz="2800" b="1" dirty="0">
                <a:solidFill>
                  <a:srgbClr val="A9316C"/>
                </a:solidFill>
                <a:latin typeface="TeXGyrePagella" pitchFamily="2" charset="77"/>
              </a:rPr>
              <a:t>largely consistent. </a:t>
            </a: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1F36BC09-05EA-9DE8-DD73-C628F51F0CBE}"/>
              </a:ext>
            </a:extLst>
          </p:cNvPr>
          <p:cNvSpPr/>
          <p:nvPr/>
        </p:nvSpPr>
        <p:spPr>
          <a:xfrm flipH="1">
            <a:off x="13222732" y="37171195"/>
            <a:ext cx="2485592" cy="368383"/>
          </a:xfrm>
          <a:prstGeom prst="rect">
            <a:avLst/>
          </a:prstGeom>
          <a:noFill/>
          <a:ln w="38100">
            <a:solidFill>
              <a:srgbClr val="A9316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51FC4F65-C399-6A65-8EEF-EB56B270F24D}"/>
              </a:ext>
            </a:extLst>
          </p:cNvPr>
          <p:cNvSpPr txBox="1"/>
          <p:nvPr/>
        </p:nvSpPr>
        <p:spPr>
          <a:xfrm>
            <a:off x="671598" y="39491010"/>
            <a:ext cx="161666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eXGyrePagella" pitchFamily="2" charset="77"/>
              </a:rPr>
              <a:t>P</a:t>
            </a:r>
            <a:r>
              <a:rPr lang="en-GB" sz="3600" dirty="0">
                <a:effectLst/>
                <a:latin typeface="TeXGyrePagella" pitchFamily="2" charset="77"/>
              </a:rPr>
              <a:t>resent method for reconciling entities across heterogenous music datasets, combining existing reconciliation services with LLM-based entity matching.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600" dirty="0">
                <a:effectLst/>
                <a:latin typeface="TeXGyrePagella" pitchFamily="2" charset="77"/>
              </a:rPr>
              <a:t>Demonstrate that this method can be used to link entries from </a:t>
            </a:r>
            <a:r>
              <a:rPr lang="en-GB" sz="3600" b="1" dirty="0">
                <a:effectLst/>
                <a:latin typeface="TeXGyrePagella" pitchFamily="2" charset="77"/>
              </a:rPr>
              <a:t>music exam board repertoire lists to IMSLP works</a:t>
            </a:r>
            <a:r>
              <a:rPr lang="en-GB" sz="3600" dirty="0">
                <a:effectLst/>
                <a:latin typeface="TeXGyrePagella" pitchFamily="2" charset="77"/>
              </a:rPr>
              <a:t>, and hence </a:t>
            </a:r>
            <a:r>
              <a:rPr lang="en-GB" sz="3600" b="1" dirty="0">
                <a:effectLst/>
                <a:latin typeface="TeXGyrePagella" pitchFamily="2" charset="77"/>
              </a:rPr>
              <a:t>produce new difficulty-labelled datasets for multiple instruments.</a:t>
            </a:r>
          </a:p>
        </p:txBody>
      </p:sp>
    </p:spTree>
    <p:extLst>
      <p:ext uri="{BB962C8B-B14F-4D97-AF65-F5344CB8AC3E}">
        <p14:creationId xmlns:p14="http://schemas.microsoft.com/office/powerpoint/2010/main" val="174598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8035</TotalTime>
  <Words>991</Words>
  <Application>Microsoft Macintosh PowerPoint</Application>
  <PresentationFormat>Custom</PresentationFormat>
  <Paragraphs>161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CMU BRIGHT OBLIQUE</vt:lpstr>
      <vt:lpstr>CMU Concrete Roman</vt:lpstr>
      <vt:lpstr>CMU Serif</vt:lpstr>
      <vt:lpstr>CMU Serif Roman</vt:lpstr>
      <vt:lpstr>TeXGyrePagella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Finch</dc:creator>
  <cp:lastModifiedBy>Megan Finch</cp:lastModifiedBy>
  <cp:revision>68</cp:revision>
  <dcterms:created xsi:type="dcterms:W3CDTF">2026-09-18T10:01:00Z</dcterms:created>
  <dcterms:modified xsi:type="dcterms:W3CDTF">2026-09-25T10:06:50Z</dcterms:modified>
</cp:coreProperties>
</file>