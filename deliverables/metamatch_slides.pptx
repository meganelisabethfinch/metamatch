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2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3"/>
    <p:restoredTop sz="94733"/>
  </p:normalViewPr>
  <p:slideViewPr>
    <p:cSldViewPr snapToGrid="0">
      <p:cViewPr>
        <p:scale>
          <a:sx n="82" d="100"/>
          <a:sy n="82" d="100"/>
        </p:scale>
        <p:origin x="776" y="6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A7E89-7C6E-C848-BF03-22BF20C4FB1E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6106D-F2F8-1340-B48B-B77E95A83F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532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15B8BC-F4F1-60F3-C924-311088D606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98018"/>
            <a:ext cx="9144000" cy="461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 i="1">
                <a:solidFill>
                  <a:srgbClr val="68236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6FE44C-21D8-3ACE-731C-B222A0CA8318}"/>
              </a:ext>
            </a:extLst>
          </p:cNvPr>
          <p:cNvSpPr/>
          <p:nvPr userDrawn="1"/>
        </p:nvSpPr>
        <p:spPr>
          <a:xfrm>
            <a:off x="1524000" y="1549400"/>
            <a:ext cx="9144000" cy="1244600"/>
          </a:xfrm>
          <a:prstGeom prst="roundRect">
            <a:avLst/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i="1" dirty="0">
              <a:latin typeface="TeXGyrePagella" pitchFamily="2" charset="77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4DDDC89-FE75-8672-8EE8-D4A45D081F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175" y="327820"/>
            <a:ext cx="2725207" cy="817562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EAC62EC0-16C1-165D-D2EB-A10C4BF58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49401"/>
            <a:ext cx="9144000" cy="1244599"/>
          </a:xfrm>
        </p:spPr>
        <p:txBody>
          <a:bodyPr>
            <a:normAutofit/>
          </a:bodyPr>
          <a:lstStyle>
            <a:lvl1pPr algn="ctr">
              <a:defRPr sz="3600" b="1" i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FAAE1896-A16F-7728-D621-315FE5A7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CA94-E6D9-F64B-BA4C-E971610C1D49}" type="datetime1">
              <a:rPr lang="en-GB" smtClean="0"/>
              <a:t>25/09/2026</a:t>
            </a:fld>
            <a:endParaRPr lang="en-GB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9B30FD3E-7192-E001-3500-1215D6DD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37B43C2-6574-700D-1D89-5B3D4DCDD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7447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TeXGyrePagella" pitchFamily="2" charset="77"/>
              </a:defRPr>
            </a:lvl1pPr>
          </a:lstStyle>
          <a:p>
            <a:fld id="{E2709123-513C-5E45-9447-9E2C3C853CA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40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15DA6-11F0-8F31-A2C8-07896F43C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331921"/>
            <a:ext cx="11600610" cy="48450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EC81A-23EB-4D90-ED1E-1574D596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AA2C-61D3-8641-8B7F-D5EB4642BB48}" type="datetime1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F62EF-E5BA-57B5-33FB-A7AD86A9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92F12-76FE-3854-A78B-F9041B5F6564}"/>
              </a:ext>
            </a:extLst>
          </p:cNvPr>
          <p:cNvSpPr/>
          <p:nvPr userDrawn="1"/>
        </p:nvSpPr>
        <p:spPr>
          <a:xfrm>
            <a:off x="0" y="1"/>
            <a:ext cx="12192000" cy="928688"/>
          </a:xfrm>
          <a:prstGeom prst="rect">
            <a:avLst/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2C911-8C66-85C5-08F4-122BE1C7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489750"/>
            <a:ext cx="10215562" cy="35242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2C0ABE-CC71-9F36-444B-AD55B13E3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7447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TeXGyrePagella" pitchFamily="2" charset="77"/>
              </a:defRPr>
            </a:lvl1pPr>
          </a:lstStyle>
          <a:p>
            <a:fld id="{E2709123-513C-5E45-9447-9E2C3C853CA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1E0A0-7D7F-D0EC-3EA4-F19DE12D1158}"/>
              </a:ext>
            </a:extLst>
          </p:cNvPr>
          <p:cNvSpPr txBox="1"/>
          <p:nvPr userDrawn="1"/>
        </p:nvSpPr>
        <p:spPr>
          <a:xfrm>
            <a:off x="6038409" y="44732"/>
            <a:ext cx="6141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400" b="0" i="1" dirty="0" err="1">
                <a:solidFill>
                  <a:schemeClr val="bg1"/>
                </a:solidFill>
                <a:latin typeface="TeXGyrePagella" pitchFamily="2" charset="77"/>
              </a:rPr>
              <a:t>MetaMatch</a:t>
            </a:r>
            <a:r>
              <a:rPr lang="en-GB" sz="1400" b="0" i="1" dirty="0">
                <a:solidFill>
                  <a:schemeClr val="bg1"/>
                </a:solidFill>
                <a:latin typeface="TeXGyrePagella" pitchFamily="2" charset="77"/>
              </a:rPr>
              <a:t>: Reconciling Metadata for Aggregating Music Difficulty Annotations</a:t>
            </a:r>
          </a:p>
        </p:txBody>
      </p:sp>
    </p:spTree>
    <p:extLst>
      <p:ext uri="{BB962C8B-B14F-4D97-AF65-F5344CB8AC3E}">
        <p14:creationId xmlns:p14="http://schemas.microsoft.com/office/powerpoint/2010/main" val="243539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8AD8-10F8-E9C3-83D6-8873DE3B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9427F-C220-AEAE-776B-40DD727CF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7BA7E-D663-03F0-A4A2-681DD6CB1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C631-F9F4-414E-959E-E43873B288F0}" type="datetime1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DD40F-E8BD-CD84-5B4B-3ECD62D6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47345-315E-EAAB-4ED6-A196CD01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04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CED2C-54FF-6CF0-14ED-7AA7614F2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FC2C6-5A8F-37F5-618B-1E29CC1D8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5C78-2E2E-6409-2A30-89691393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DCE60-8AB7-BF4A-945E-69C0A0B9E0F4}" type="datetime1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9748C-A0A5-8F0D-430E-433ED397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14E1D-F06D-3A30-8D59-9FCA71FF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CB552-E59C-C387-0D89-89ECD42BB448}"/>
              </a:ext>
            </a:extLst>
          </p:cNvPr>
          <p:cNvSpPr/>
          <p:nvPr userDrawn="1"/>
        </p:nvSpPr>
        <p:spPr>
          <a:xfrm>
            <a:off x="0" y="1"/>
            <a:ext cx="12192000" cy="928688"/>
          </a:xfrm>
          <a:prstGeom prst="rect">
            <a:avLst/>
          </a:prstGeom>
          <a:solidFill>
            <a:srgbClr val="6823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710F469-8572-132A-D444-2FD41B755DF8}"/>
              </a:ext>
            </a:extLst>
          </p:cNvPr>
          <p:cNvSpPr txBox="1">
            <a:spLocks/>
          </p:cNvSpPr>
          <p:nvPr userDrawn="1"/>
        </p:nvSpPr>
        <p:spPr>
          <a:xfrm>
            <a:off x="300038" y="489750"/>
            <a:ext cx="10215562" cy="3524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XGyrePagella" pitchFamily="2" charset="77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D4317B-B56E-C920-2B5A-15CB05CB5F11}"/>
              </a:ext>
            </a:extLst>
          </p:cNvPr>
          <p:cNvSpPr txBox="1">
            <a:spLocks/>
          </p:cNvSpPr>
          <p:nvPr userDrawn="1"/>
        </p:nvSpPr>
        <p:spPr>
          <a:xfrm>
            <a:off x="9157447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TeXGyrePagella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709123-513C-5E45-9447-9E2C3C853CA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8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B029-0CEA-1114-6499-B2757123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D1AD0-4F4C-F7DC-39B8-4E1E48E82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04969-714C-609C-001A-10DAB25A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5BB33-DCBC-8834-FE23-0ECF95DB0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1719C-6F27-1472-6808-15E4BE7C9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B118A-8300-28E4-54B5-5172B369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31976-D467-C247-BE77-51C88D2949B4}" type="datetime1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54F8F-49A6-82FC-7CA2-6A76769C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26C1A-B503-837C-4D97-5CED73D6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3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63DD-9C32-43F5-579E-AC51BE1F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425AF-CB1F-37C7-B139-904CAA93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727B6-D383-0C49-B3AF-2D22E13CEEAC}" type="datetime1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249E-F54E-3165-56A7-306E26CE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D630E-D3D6-F1C8-BA72-CB8767DB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38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7EADC-3102-64A8-24D9-103D11ED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8381-BF88-CF42-897E-6BD32888A9E0}" type="datetime1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7AF6C-3804-17B4-D8A5-96BC9F1D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7DAF0-A80D-ED50-A4D2-8D783F75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41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F4BE-AAFA-F928-9733-0BD4A20C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708C7-7210-FE7A-082F-786C28550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0E33F-44B7-2348-39A3-B1EA35E2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0E4EB-63D7-BBD7-F121-F961D312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455B-F2E3-5443-AD7C-CF4A130EA7EA}" type="datetime1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775E8-BE50-B8DA-AA31-D4C75BD3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68CD9-F4C1-4ABE-3409-C9878DF8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64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0DA1-01CA-39AA-5C02-4140A8E0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6BF27-A037-19BD-1025-F049AA48A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460AA-3428-6C76-70CC-96BE3AD6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3F072-F8A5-7673-22DD-1F15FCAB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687F-84DB-1449-998A-8C04A4DBDD1D}" type="datetime1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541D4-4BAE-BE57-C542-5D4450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3BFAB-DD8D-5440-103A-7641B70A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69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B691-25F0-CC71-29F8-FA4B119B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217DA-EF94-7DE2-B59E-DF77380B7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3753" y="1825625"/>
            <a:ext cx="1136276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70560-4373-D335-24D3-671139DD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8AF5-BCB3-F649-8502-FF9C5980BB71}" type="datetime1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A362E-5A01-46FE-205E-91008D656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9B775-2BFE-6C32-8F37-5DF6FBF4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75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9A503C-3A40-0CEE-AA23-6A7AAAAE5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B8C9B-A818-B0EC-1F39-2283CAB73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33E1B-1D08-D18D-3A4A-28D93888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8ED8D-3B6E-4540-B87D-BEB7E699EB02}" type="datetime1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BAEB-2D7F-AD3E-0BF8-66EE32D4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120FF-30DB-A5FF-6E04-2B1D70C2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31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09123-513C-5E45-9447-9E2C3C853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37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0C97D-E987-BABE-B8D4-FD87D473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7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A97DF-A826-6093-0DB3-7F867C73B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XGyrePagella" pitchFamily="2" charset="77"/>
              </a:defRPr>
            </a:lvl1pPr>
          </a:lstStyle>
          <a:p>
            <a:fld id="{A7E5672D-403B-2947-87DF-6F17723E6180}" type="datetime1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D27D4-38B8-05AE-871C-41FAD398A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XGyrePagella" pitchFamily="2" charset="77"/>
              </a:defRPr>
            </a:lvl1pPr>
          </a:lstStyle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7B53AD-8384-402F-479D-27332602C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7447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TeXGyrePagella" pitchFamily="2" charset="77"/>
              </a:defRPr>
            </a:lvl1pPr>
          </a:lstStyle>
          <a:p>
            <a:fld id="{E2709123-513C-5E45-9447-9E2C3C853CA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82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eXGyrePagella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eXGyrePagella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eXGyrePagella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eXGyrePagella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eXGyrePagella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eXGyrePagella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71595F2-DDC8-F3A4-4DDB-635473B6D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2230"/>
            <a:ext cx="9144000" cy="55838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sz="1600" dirty="0"/>
              <a:t>Subtitle / large scale music difficulty dataset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8E4086-CC28-53B5-D50D-8BC6DB22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 err="1">
                <a:latin typeface="TeXGyrePagella" pitchFamily="2" charset="77"/>
              </a:rPr>
              <a:t>MetaMatch</a:t>
            </a:r>
            <a:r>
              <a:rPr lang="en-GB" sz="2800" b="1" dirty="0">
                <a:latin typeface="TeXGyrePagella" pitchFamily="2" charset="77"/>
              </a:rPr>
              <a:t>: Reconciling Metadata for Aggregating Music Difficulty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61160-A365-F12C-DD63-D584FDAD8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709123-513C-5E45-9447-9E2C3C853CA8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8E62B-E72D-CE3E-8273-F4B0DF583DC4}"/>
              </a:ext>
            </a:extLst>
          </p:cNvPr>
          <p:cNvSpPr txBox="1"/>
          <p:nvPr/>
        </p:nvSpPr>
        <p:spPr>
          <a:xfrm>
            <a:off x="1524000" y="3957638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>
                <a:latin typeface="TeXGyrePagella" pitchFamily="2" charset="77"/>
              </a:rPr>
              <a:t>Megan E. Finch</a:t>
            </a:r>
            <a:r>
              <a:rPr lang="en-GB" sz="1600" i="1" baseline="30000" dirty="0">
                <a:latin typeface="TeXGyrePagella" pitchFamily="2" charset="77"/>
              </a:rPr>
              <a:t>1</a:t>
            </a:r>
            <a:r>
              <a:rPr lang="en-GB" sz="1600" i="1" dirty="0">
                <a:latin typeface="TeXGyrePagella" pitchFamily="2" charset="77"/>
              </a:rPr>
              <a:t>, Chris G. Willcocks</a:t>
            </a:r>
            <a:r>
              <a:rPr lang="en-GB" sz="1600" i="1" baseline="30000" dirty="0">
                <a:latin typeface="TeXGyrePagella" pitchFamily="2" charset="77"/>
              </a:rPr>
              <a:t>1</a:t>
            </a:r>
            <a:r>
              <a:rPr lang="en-GB" sz="1600" i="1" dirty="0">
                <a:latin typeface="TeXGyrePagella" pitchFamily="2" charset="77"/>
              </a:rPr>
              <a:t>, Mark R. H. Gotham</a:t>
            </a:r>
            <a:r>
              <a:rPr lang="en-GB" sz="1600" i="1" baseline="30000" dirty="0">
                <a:latin typeface="TeXGyrePagella" pitchFamily="2" charset="77"/>
              </a:rPr>
              <a:t>2</a:t>
            </a:r>
          </a:p>
          <a:p>
            <a:pPr algn="ctr"/>
            <a:r>
              <a:rPr lang="en-GB" sz="1600" i="1" baseline="30000" dirty="0">
                <a:latin typeface="TeXGyrePagella" pitchFamily="2" charset="77"/>
              </a:rPr>
              <a:t>1 </a:t>
            </a:r>
            <a:r>
              <a:rPr lang="en-GB" sz="1600" i="1" dirty="0">
                <a:latin typeface="TeXGyrePagella" pitchFamily="2" charset="77"/>
              </a:rPr>
              <a:t>Durham University, UK      </a:t>
            </a:r>
            <a:r>
              <a:rPr lang="en-GB" sz="1600" i="1" baseline="30000" dirty="0">
                <a:latin typeface="TeXGyrePagella" pitchFamily="2" charset="77"/>
              </a:rPr>
              <a:t>2 </a:t>
            </a:r>
            <a:r>
              <a:rPr lang="en-GB" sz="1600" i="1" dirty="0">
                <a:latin typeface="TeXGyrePagella" pitchFamily="2" charset="77"/>
              </a:rPr>
              <a:t>King’s College London, UK</a:t>
            </a:r>
            <a:endParaRPr lang="en-GB" sz="1600" i="1" baseline="30000" dirty="0">
              <a:latin typeface="TeXGyrePagella" pitchFamily="2" charset="77"/>
            </a:endParaRPr>
          </a:p>
          <a:p>
            <a:pPr algn="ctr"/>
            <a:r>
              <a:rPr lang="en-GB" sz="1600" dirty="0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{</a:t>
            </a:r>
            <a:r>
              <a:rPr lang="en-GB" sz="1600" dirty="0" err="1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megan.e.finch,christopher.g.willcocks</a:t>
            </a:r>
            <a:r>
              <a:rPr lang="en-GB" sz="1600" dirty="0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}@</a:t>
            </a:r>
            <a:r>
              <a:rPr lang="en-GB" sz="1600" dirty="0" err="1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durham.ac.uk</a:t>
            </a:r>
            <a:r>
              <a:rPr lang="en-GB" sz="1600" dirty="0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        </a:t>
            </a:r>
            <a:r>
              <a:rPr lang="en-GB" sz="1600" dirty="0" err="1">
                <a:solidFill>
                  <a:srgbClr val="000000"/>
                </a:solidFill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m</a:t>
            </a:r>
            <a:r>
              <a:rPr lang="en-GB" sz="1600" dirty="0" err="1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ark</a:t>
            </a:r>
            <a:r>
              <a:rPr lang="en-GB" sz="1600" dirty="0" err="1">
                <a:solidFill>
                  <a:srgbClr val="000000"/>
                </a:solidFill>
                <a:effectLst/>
                <a:latin typeface="CMU Concrete Roman" panose="02000603000000000000" pitchFamily="2" charset="0"/>
                <a:ea typeface="CMU Concrete Roman" panose="02000603000000000000" pitchFamily="2" charset="0"/>
                <a:cs typeface="CMU Concrete Roman" panose="02000603000000000000" pitchFamily="2" charset="0"/>
              </a:rPr>
              <a:t>.gotham@kcl.ac.uk</a:t>
            </a:r>
            <a:endParaRPr lang="en-GB" sz="1600" dirty="0">
              <a:solidFill>
                <a:srgbClr val="000000"/>
              </a:solidFill>
              <a:effectLst/>
              <a:latin typeface="CMU Concrete Roman" panose="02000603000000000000" pitchFamily="2" charset="0"/>
              <a:ea typeface="CMU Concrete Roman" panose="02000603000000000000" pitchFamily="2" charset="0"/>
              <a:cs typeface="CMU Concrete Roman" panose="02000603000000000000" pitchFamily="2" charset="0"/>
            </a:endParaRPr>
          </a:p>
          <a:p>
            <a:endParaRPr lang="en-GB" sz="16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4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CA6398-2C83-0398-85F7-566175CA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rtl="0">
              <a:buFont typeface="+mj-lt"/>
              <a:buAutoNum type="arabicPeriod"/>
            </a:pPr>
            <a:r>
              <a:rPr lang="en-GB" b="1" dirty="0"/>
              <a:t>Problem/motivation</a:t>
            </a:r>
            <a:r>
              <a:rPr lang="en-GB" dirty="0"/>
              <a:t> (~30s) — what MIR task, why it matters, what's broken or missing in current approaches. One sentence, not a literature review.</a:t>
            </a:r>
          </a:p>
          <a:p>
            <a:pPr marL="0" indent="0" rtl="0">
              <a:buNone/>
            </a:pPr>
            <a:r>
              <a:rPr lang="en-GB" dirty="0"/>
              <a:t>- task: cross-corpus linking for music datasets, application to music difficulty</a:t>
            </a:r>
          </a:p>
          <a:p>
            <a:pPr marL="0" indent="0" rtl="0">
              <a:buNone/>
            </a:pPr>
            <a:r>
              <a:rPr lang="en-GB" dirty="0"/>
              <a:t>- why it matters: music difficulty focuses almost ubiquitously on piano / other more general applications</a:t>
            </a:r>
          </a:p>
          <a:p>
            <a:pPr marL="0" indent="0" rtl="0">
              <a:buNone/>
            </a:pPr>
            <a:r>
              <a:rPr lang="en-GB" dirty="0"/>
              <a:t>- what’s broken/missing: dependence on single backbone (e.g. </a:t>
            </a:r>
            <a:r>
              <a:rPr lang="en-GB" dirty="0" err="1"/>
              <a:t>wikidata</a:t>
            </a:r>
            <a:r>
              <a:rPr lang="en-GB" dirty="0"/>
              <a:t>) which has missing entities, existing reconciliation services (often string matching enriched with properties) cannot handle music titles, different granularities</a:t>
            </a:r>
          </a:p>
          <a:p>
            <a:pPr rtl="0">
              <a:buFont typeface="+mj-lt"/>
              <a:buAutoNum type="arabicPeriod"/>
            </a:pPr>
            <a:r>
              <a:rPr lang="en-GB" b="1" dirty="0"/>
              <a:t>Your approach</a:t>
            </a:r>
            <a:r>
              <a:rPr lang="en-GB" dirty="0"/>
              <a:t> (~45-60s) — the core idea, usually one diagram (architecture, pipeline, or method schematic). This is the slide people should screenshot. Avoid equations unless one is truly central — no one absorbs math in 3 minutes.</a:t>
            </a:r>
          </a:p>
          <a:p>
            <a:pPr marL="0" indent="0" rtl="0">
              <a:buNone/>
            </a:pPr>
            <a:r>
              <a:rPr lang="en-GB" dirty="0"/>
              <a:t>- core idea: 1) formulate as graph problem – to link two entities, you can take any path through graph, &amp; existing links can be used as redundancy/evaluation signal; 2) mixture of reconciliation methods – existing reconciliation services vs </a:t>
            </a:r>
            <a:r>
              <a:rPr lang="en-GB" dirty="0" err="1"/>
              <a:t>llm</a:t>
            </a:r>
            <a:r>
              <a:rPr lang="en-GB" dirty="0"/>
              <a:t> entity matching</a:t>
            </a:r>
          </a:p>
          <a:p>
            <a:pPr rtl="0">
              <a:buFont typeface="+mj-lt"/>
              <a:buAutoNum type="arabicPeriod"/>
            </a:pPr>
            <a:r>
              <a:rPr lang="en-GB" b="1" dirty="0"/>
              <a:t>Key result</a:t>
            </a:r>
            <a:r>
              <a:rPr lang="en-GB" dirty="0"/>
              <a:t> (~40-50s) — one figure or table, ideally something visual (a comparison plot, a few audio/spectrogram examples, an improvement number). Don't show your full results table — pick the single most convincing number or comparison.</a:t>
            </a:r>
          </a:p>
          <a:p>
            <a:pPr marL="0" indent="0" rtl="0">
              <a:buNone/>
            </a:pPr>
            <a:r>
              <a:rPr lang="en-GB" dirty="0"/>
              <a:t>- 58k entries from graded repertoire lists -&gt; 7.7k piano. -&gt; 5k with recognised composers -&gt; find </a:t>
            </a:r>
            <a:r>
              <a:rPr lang="en-GB" dirty="0" err="1"/>
              <a:t>MusicBrainz</a:t>
            </a:r>
            <a:r>
              <a:rPr lang="en-GB" dirty="0"/>
              <a:t> matches for 65% of works, and IMSLP matches for 47% of works. [also id overlap with existing piano datasets]. Use LLM eval and existing MB-&gt;IMSLP links to verify accuracy.</a:t>
            </a:r>
          </a:p>
          <a:p>
            <a:pPr marL="0" indent="0" rtl="0">
              <a:buNone/>
            </a:pPr>
            <a:r>
              <a:rPr lang="en-GB" dirty="0"/>
              <a:t>- LLMs: commercial leads by large margin, SOTA open weight still struggle. Good at match detection, poor at match type identification.</a:t>
            </a:r>
          </a:p>
          <a:p>
            <a:pPr marL="0" indent="0" rtl="0">
              <a:buNone/>
            </a:pPr>
            <a:r>
              <a:rPr lang="en-GB" dirty="0"/>
              <a:t>- this method can be used for any instruments – expect to work best on ‘unarranged’ pieces – cello, violin, etc. piece linking still works regardless, but arrangement is not difficulty invariant.</a:t>
            </a:r>
          </a:p>
          <a:p>
            <a:pPr rtl="0">
              <a:buFont typeface="+mj-lt"/>
              <a:buAutoNum type="arabicPeriod"/>
            </a:pPr>
            <a:r>
              <a:rPr lang="en-GB" b="1" dirty="0"/>
              <a:t>Takeaway + pointer to poster</a:t>
            </a:r>
            <a:r>
              <a:rPr lang="en-GB" dirty="0"/>
              <a:t> (~20-30s) — one sentence on what to remember, explicit invitation ("come by poster #X to hear more" or "to listen to samples").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D5B3BE-6D2E-8FB9-F235-94996D09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E1687-65B8-8973-E160-6CA664876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709123-513C-5E45-9447-9E2C3C853CA8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19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CA6398-2C83-0398-85F7-566175CA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D5B3BE-6D2E-8FB9-F235-94996D09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E1687-65B8-8973-E160-6CA664876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709123-513C-5E45-9447-9E2C3C853CA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11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21186</TotalTime>
  <Words>475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CMU CONCRETE ROMAN</vt:lpstr>
      <vt:lpstr>CMU CONCRETE ROMAN</vt:lpstr>
      <vt:lpstr>Helvetica</vt:lpstr>
      <vt:lpstr>TeXGyrePagella</vt:lpstr>
      <vt:lpstr>Office Theme</vt:lpstr>
      <vt:lpstr>MetaMatch: Reconciling Metadata for Aggregating Music Difficulty Annotations</vt:lpstr>
      <vt:lpstr>notes</vt:lpstr>
      <vt:lpstr>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PianoPD</dc:title>
  <dc:creator>Megan Finch</dc:creator>
  <cp:lastModifiedBy>Megan Finch</cp:lastModifiedBy>
  <cp:revision>5</cp:revision>
  <dcterms:created xsi:type="dcterms:W3CDTF">2026-03-19T18:12:46Z</dcterms:created>
  <dcterms:modified xsi:type="dcterms:W3CDTF">2026-09-25T10:32:07Z</dcterms:modified>
</cp:coreProperties>
</file>